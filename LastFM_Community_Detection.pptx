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261727BD-5B4A-4897-C593-9109266BB5C8}">
          <p14:sldIdLst>
            <p14:sldId id="256"/>
            <p14:sldId id="257"/>
            <p14:sldId id="258"/>
            <p14:sldId id="259"/>
          </p14:sldIdLst>
        </p14:section>
        <p14:section name="Algorithms" id="{02BFE1EE-184C-822F-D271-BC235EFCE225}">
          <p14:sldIdLst>
            <p14:sldId id="260"/>
            <p14:sldId id="261"/>
            <p14:sldId id="262"/>
          </p14:sldIdLst>
        </p14:section>
        <p14:section name="Results" id="{2A7B22D0-7D48-918E-E031-3871BE77FDBF}">
          <p14:sldIdLst>
            <p14:sldId id="263"/>
            <p14:sldId id="264"/>
            <p14:sldId id="265"/>
            <p14:sldId id="266"/>
            <p14:sldId id="267"/>
            <p14:sldId id="268"/>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3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B3A"/>
                </a:solidFill>
                <a:latin typeface="+mn-lt"/>
              </a:defRPr>
            </a:pPr>
            <a:r>
              <a:rPr lang="en-IN" sz="1400" b="0" i="0" u="none" strike="noStrike">
                <a:solidFill>
                  <a:srgbClr val="1E1B3A"/>
                </a:solidFill>
                <a:latin typeface="+mn-lt"/>
              </a:rPr>
              <a:t>Overall modularity</a:t>
            </a:r>
          </a:p>
        </c:rich>
      </c:tx>
      <c:overlay val="0"/>
    </c:title>
    <c:autoTitleDeleted val="0"/>
    <c:plotArea>
      <c:layout/>
      <c:barChart>
        <c:barDir val="col"/>
        <c:grouping val="clustered"/>
        <c:varyColors val="0"/>
        <c:ser>
          <c:idx val="0"/>
          <c:order val="0"/>
          <c:tx>
            <c:strRef>
              <c:f>Sheet1!$B$1</c:f>
              <c:strCache>
                <c:ptCount val="1"/>
                <c:pt idx="0">
                  <c:v>Modularity</c:v>
                </c:pt>
              </c:strCache>
            </c:strRef>
          </c:tx>
          <c:spPr>
            <a:solidFill>
              <a:srgbClr val="3F6FA0"/>
            </a:solidFill>
            <a:effectLst/>
          </c:spPr>
          <c:invertIfNegative val="0"/>
          <c:dPt>
            <c:idx val="0"/>
            <c:invertIfNegative val="0"/>
            <c:bubble3D val="0"/>
            <c:extLst>
              <c:ext xmlns:c16="http://schemas.microsoft.com/office/drawing/2014/chart" uri="{C3380CC4-5D6E-409C-BE32-E72D297353CC}">
                <c16:uniqueId val="{00000001-AF01-479E-99B6-CCDB837E128E}"/>
              </c:ext>
            </c:extLst>
          </c:dPt>
          <c:dPt>
            <c:idx val="1"/>
            <c:invertIfNegative val="0"/>
            <c:bubble3D val="0"/>
            <c:spPr>
              <a:solidFill>
                <a:srgbClr val="D9730D"/>
              </a:solidFill>
              <a:effectLst/>
            </c:spPr>
            <c:extLst>
              <c:ext xmlns:c16="http://schemas.microsoft.com/office/drawing/2014/chart" uri="{C3380CC4-5D6E-409C-BE32-E72D297353CC}">
                <c16:uniqueId val="{00000003-AF01-479E-99B6-CCDB837E128E}"/>
              </c:ext>
            </c:extLst>
          </c:dPt>
          <c:dPt>
            <c:idx val="2"/>
            <c:invertIfNegative val="0"/>
            <c:bubble3D val="0"/>
            <c:spPr>
              <a:solidFill>
                <a:srgbClr val="3E8E41"/>
              </a:solidFill>
              <a:effectLst/>
            </c:spPr>
            <c:extLst>
              <c:ext xmlns:c16="http://schemas.microsoft.com/office/drawing/2014/chart" uri="{C3380CC4-5D6E-409C-BE32-E72D297353CC}">
                <c16:uniqueId val="{00000005-AF01-479E-99B6-CCDB837E128E}"/>
              </c:ext>
            </c:extLst>
          </c:dPt>
          <c:dLbls>
            <c:numFmt formatCode="0.000" sourceLinked="0"/>
            <c:spPr>
              <a:noFill/>
              <a:ln>
                <a:noFill/>
              </a:ln>
              <a:effectLst/>
            </c:spPr>
            <c:txPr>
              <a:bodyPr/>
              <a:lstStyle/>
              <a:p>
                <a:pPr>
                  <a:defRPr sz="1100" b="0" i="0" u="none" strike="noStrike">
                    <a:solidFill>
                      <a:srgbClr val="1E1B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Louvain</c:v>
                </c:pt>
                <c:pt idx="1">
                  <c:v>Fast Greedy</c:v>
                </c:pt>
                <c:pt idx="2">
                  <c:v>BLDLP</c:v>
                </c:pt>
              </c:strCache>
            </c:strRef>
          </c:cat>
          <c:val>
            <c:numRef>
              <c:f>Sheet1!$B$2:$B$4</c:f>
              <c:numCache>
                <c:formatCode>General</c:formatCode>
                <c:ptCount val="3"/>
                <c:pt idx="0">
                  <c:v>0.81589999999999996</c:v>
                </c:pt>
                <c:pt idx="1">
                  <c:v>0.79659999999999997</c:v>
                </c:pt>
                <c:pt idx="2">
                  <c:v>0.76270000000000004</c:v>
                </c:pt>
              </c:numCache>
            </c:numRef>
          </c:val>
          <c:extLst>
            <c:ext xmlns:c16="http://schemas.microsoft.com/office/drawing/2014/chart" uri="{C3380CC4-5D6E-409C-BE32-E72D297353CC}">
              <c16:uniqueId val="{00000006-AF01-479E-99B6-CCDB837E128E}"/>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877"/>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DDDA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877"/>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B3A"/>
                </a:solidFill>
                <a:latin typeface="+mn-lt"/>
              </a:defRPr>
            </a:pPr>
            <a:r>
              <a:rPr lang="en-IN" sz="1400" b="0" i="0" u="none" strike="noStrike">
                <a:solidFill>
                  <a:srgbClr val="1E1B3A"/>
                </a:solidFill>
                <a:latin typeface="+mn-lt"/>
              </a:rPr>
              <a:t>Number of communities</a:t>
            </a:r>
          </a:p>
        </c:rich>
      </c:tx>
      <c:overlay val="0"/>
    </c:title>
    <c:autoTitleDeleted val="0"/>
    <c:plotArea>
      <c:layout/>
      <c:barChart>
        <c:barDir val="col"/>
        <c:grouping val="clustered"/>
        <c:varyColors val="0"/>
        <c:ser>
          <c:idx val="0"/>
          <c:order val="0"/>
          <c:tx>
            <c:strRef>
              <c:f>Sheet1!$B$1</c:f>
              <c:strCache>
                <c:ptCount val="1"/>
                <c:pt idx="0">
                  <c:v>Communities</c:v>
                </c:pt>
              </c:strCache>
            </c:strRef>
          </c:tx>
          <c:spPr>
            <a:solidFill>
              <a:srgbClr val="3F6FA0"/>
            </a:solidFill>
            <a:effectLst/>
          </c:spPr>
          <c:invertIfNegative val="0"/>
          <c:dPt>
            <c:idx val="0"/>
            <c:invertIfNegative val="0"/>
            <c:bubble3D val="0"/>
            <c:extLst>
              <c:ext xmlns:c16="http://schemas.microsoft.com/office/drawing/2014/chart" uri="{C3380CC4-5D6E-409C-BE32-E72D297353CC}">
                <c16:uniqueId val="{00000001-00E7-4FC7-9D6C-926214C4B2B7}"/>
              </c:ext>
            </c:extLst>
          </c:dPt>
          <c:dPt>
            <c:idx val="1"/>
            <c:invertIfNegative val="0"/>
            <c:bubble3D val="0"/>
            <c:spPr>
              <a:solidFill>
                <a:srgbClr val="D9730D"/>
              </a:solidFill>
              <a:effectLst/>
            </c:spPr>
            <c:extLst>
              <c:ext xmlns:c16="http://schemas.microsoft.com/office/drawing/2014/chart" uri="{C3380CC4-5D6E-409C-BE32-E72D297353CC}">
                <c16:uniqueId val="{00000003-00E7-4FC7-9D6C-926214C4B2B7}"/>
              </c:ext>
            </c:extLst>
          </c:dPt>
          <c:dPt>
            <c:idx val="2"/>
            <c:invertIfNegative val="0"/>
            <c:bubble3D val="0"/>
            <c:spPr>
              <a:solidFill>
                <a:srgbClr val="3E8E41"/>
              </a:solidFill>
              <a:effectLst/>
            </c:spPr>
            <c:extLst>
              <c:ext xmlns:c16="http://schemas.microsoft.com/office/drawing/2014/chart" uri="{C3380CC4-5D6E-409C-BE32-E72D297353CC}">
                <c16:uniqueId val="{00000005-00E7-4FC7-9D6C-926214C4B2B7}"/>
              </c:ext>
            </c:extLst>
          </c:dPt>
          <c:dLbls>
            <c:numFmt formatCode="0" sourceLinked="0"/>
            <c:spPr>
              <a:noFill/>
              <a:ln>
                <a:noFill/>
              </a:ln>
              <a:effectLst/>
            </c:spPr>
            <c:txPr>
              <a:bodyPr/>
              <a:lstStyle/>
              <a:p>
                <a:pPr>
                  <a:defRPr sz="1100" b="0" i="0" u="none" strike="noStrike">
                    <a:solidFill>
                      <a:srgbClr val="1E1B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Louvain</c:v>
                </c:pt>
                <c:pt idx="1">
                  <c:v>Fast Greedy</c:v>
                </c:pt>
                <c:pt idx="2">
                  <c:v>BLDLP</c:v>
                </c:pt>
              </c:strCache>
            </c:strRef>
          </c:cat>
          <c:val>
            <c:numRef>
              <c:f>Sheet1!$B$2:$B$4</c:f>
              <c:numCache>
                <c:formatCode>General</c:formatCode>
                <c:ptCount val="3"/>
                <c:pt idx="0">
                  <c:v>24</c:v>
                </c:pt>
                <c:pt idx="1">
                  <c:v>44</c:v>
                </c:pt>
                <c:pt idx="2">
                  <c:v>376</c:v>
                </c:pt>
              </c:numCache>
            </c:numRef>
          </c:val>
          <c:extLst>
            <c:ext xmlns:c16="http://schemas.microsoft.com/office/drawing/2014/chart" uri="{C3380CC4-5D6E-409C-BE32-E72D297353CC}">
              <c16:uniqueId val="{00000006-00E7-4FC7-9D6C-926214C4B2B7}"/>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877"/>
                </a:solidFill>
                <a:latin typeface="+mn-lt"/>
              </a:defRPr>
            </a:pPr>
            <a:endParaRPr lang="en-US"/>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DDD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877"/>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E1B3A"/>
                </a:solidFill>
                <a:latin typeface="+mn-lt"/>
              </a:defRPr>
            </a:pPr>
            <a:r>
              <a:rPr lang="en-US" sz="1400" b="0" i="0" u="none" strike="noStrike">
                <a:solidFill>
                  <a:srgbClr val="1E1B3A"/>
                </a:solidFill>
                <a:latin typeface="+mn-lt"/>
              </a:rPr>
              <a:t>Run time (s, log scale)</a:t>
            </a:r>
          </a:p>
        </c:rich>
      </c:tx>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3F6FA0"/>
            </a:solidFill>
            <a:effectLst/>
          </c:spPr>
          <c:invertIfNegative val="0"/>
          <c:dPt>
            <c:idx val="0"/>
            <c:invertIfNegative val="0"/>
            <c:bubble3D val="0"/>
            <c:extLst>
              <c:ext xmlns:c16="http://schemas.microsoft.com/office/drawing/2014/chart" uri="{C3380CC4-5D6E-409C-BE32-E72D297353CC}">
                <c16:uniqueId val="{00000001-6C84-4C36-8A21-90112DFC15B8}"/>
              </c:ext>
            </c:extLst>
          </c:dPt>
          <c:dPt>
            <c:idx val="1"/>
            <c:invertIfNegative val="0"/>
            <c:bubble3D val="0"/>
            <c:spPr>
              <a:solidFill>
                <a:srgbClr val="D9730D"/>
              </a:solidFill>
              <a:effectLst/>
            </c:spPr>
            <c:extLst>
              <c:ext xmlns:c16="http://schemas.microsoft.com/office/drawing/2014/chart" uri="{C3380CC4-5D6E-409C-BE32-E72D297353CC}">
                <c16:uniqueId val="{00000003-6C84-4C36-8A21-90112DFC15B8}"/>
              </c:ext>
            </c:extLst>
          </c:dPt>
          <c:dPt>
            <c:idx val="2"/>
            <c:invertIfNegative val="0"/>
            <c:bubble3D val="0"/>
            <c:spPr>
              <a:solidFill>
                <a:srgbClr val="3E8E41"/>
              </a:solidFill>
              <a:effectLst/>
            </c:spPr>
            <c:extLst>
              <c:ext xmlns:c16="http://schemas.microsoft.com/office/drawing/2014/chart" uri="{C3380CC4-5D6E-409C-BE32-E72D297353CC}">
                <c16:uniqueId val="{00000005-6C84-4C36-8A21-90112DFC15B8}"/>
              </c:ext>
            </c:extLst>
          </c:dPt>
          <c:dLbls>
            <c:numFmt formatCode="0.00" sourceLinked="0"/>
            <c:spPr>
              <a:noFill/>
              <a:ln>
                <a:noFill/>
              </a:ln>
              <a:effectLst/>
            </c:spPr>
            <c:txPr>
              <a:bodyPr/>
              <a:lstStyle/>
              <a:p>
                <a:pPr>
                  <a:defRPr sz="1100" b="0" i="0" u="none" strike="noStrike">
                    <a:solidFill>
                      <a:srgbClr val="1E1B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Louvain</c:v>
                </c:pt>
                <c:pt idx="1">
                  <c:v>Fast Greedy</c:v>
                </c:pt>
                <c:pt idx="2">
                  <c:v>BLDLP</c:v>
                </c:pt>
              </c:strCache>
            </c:strRef>
          </c:cat>
          <c:val>
            <c:numRef>
              <c:f>Sheet1!$B$2:$B$4</c:f>
              <c:numCache>
                <c:formatCode>General</c:formatCode>
                <c:ptCount val="3"/>
                <c:pt idx="0">
                  <c:v>2.5000000000000001E-2</c:v>
                </c:pt>
                <c:pt idx="1">
                  <c:v>0.23200000000000001</c:v>
                </c:pt>
                <c:pt idx="2">
                  <c:v>192.51</c:v>
                </c:pt>
              </c:numCache>
            </c:numRef>
          </c:val>
          <c:extLst>
            <c:ext xmlns:c16="http://schemas.microsoft.com/office/drawing/2014/chart" uri="{C3380CC4-5D6E-409C-BE32-E72D297353CC}">
              <c16:uniqueId val="{00000006-6C84-4C36-8A21-90112DFC15B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5877"/>
                </a:solidFill>
                <a:latin typeface="+mn-lt"/>
              </a:defRPr>
            </a:pPr>
            <a:endParaRPr lang="en-US"/>
          </a:p>
        </c:txPr>
        <c:crossAx val="2094734552"/>
        <c:crosses val="autoZero"/>
        <c:auto val="1"/>
        <c:lblAlgn val="ctr"/>
        <c:lblOffset val="100"/>
        <c:noMultiLvlLbl val="1"/>
      </c:catAx>
      <c:valAx>
        <c:axId val="2094734552"/>
        <c:scaling>
          <c:logBase val="10"/>
          <c:orientation val="minMax"/>
          <c:max val="1000"/>
          <c:min val="0.01"/>
        </c:scaling>
        <c:delete val="0"/>
        <c:axPos val="l"/>
        <c:majorGridlines>
          <c:spPr>
            <a:ln w="6350" cap="flat">
              <a:solidFill>
                <a:srgbClr val="DDD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877"/>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ARI</c:v>
                </c:pt>
              </c:strCache>
            </c:strRef>
          </c:tx>
          <c:spPr>
            <a:solidFill>
              <a:srgbClr val="7C5CFF"/>
            </a:solidFill>
            <a:effectLst/>
          </c:spPr>
          <c:invertIfNegative val="0"/>
          <c:dLbls>
            <c:numFmt formatCode="0.00" sourceLinked="0"/>
            <c:spPr>
              <a:noFill/>
              <a:ln>
                <a:noFill/>
              </a:ln>
              <a:effectLst/>
            </c:spPr>
            <c:txPr>
              <a:bodyPr/>
              <a:lstStyle/>
              <a:p>
                <a:pPr>
                  <a:defRPr sz="1000" b="0" i="0" u="none" strike="noStrike">
                    <a:solidFill>
                      <a:srgbClr val="1E1B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Louvain vs Fast Greedy</c:v>
                </c:pt>
                <c:pt idx="1">
                  <c:v>Louvain vs BLDLP</c:v>
                </c:pt>
                <c:pt idx="2">
                  <c:v>Fast Greedy vs BLDLP</c:v>
                </c:pt>
              </c:strCache>
            </c:strRef>
          </c:cat>
          <c:val>
            <c:numRef>
              <c:f>Sheet1!$B$2:$B$4</c:f>
              <c:numCache>
                <c:formatCode>General</c:formatCode>
                <c:ptCount val="3"/>
                <c:pt idx="0">
                  <c:v>0.70699999999999996</c:v>
                </c:pt>
                <c:pt idx="1">
                  <c:v>0.59299999999999997</c:v>
                </c:pt>
                <c:pt idx="2">
                  <c:v>0.46100000000000002</c:v>
                </c:pt>
              </c:numCache>
            </c:numRef>
          </c:val>
          <c:extLst>
            <c:ext xmlns:c16="http://schemas.microsoft.com/office/drawing/2014/chart" uri="{C3380CC4-5D6E-409C-BE32-E72D297353CC}">
              <c16:uniqueId val="{00000000-2331-4084-8D5F-F27C223D4D68}"/>
            </c:ext>
          </c:extLst>
        </c:ser>
        <c:ser>
          <c:idx val="1"/>
          <c:order val="1"/>
          <c:tx>
            <c:strRef>
              <c:f>Sheet1!$C$1</c:f>
              <c:strCache>
                <c:ptCount val="1"/>
                <c:pt idx="0">
                  <c:v>NMI</c:v>
                </c:pt>
              </c:strCache>
            </c:strRef>
          </c:tx>
          <c:spPr>
            <a:solidFill>
              <a:srgbClr val="2A9D8F"/>
            </a:solidFill>
            <a:effectLst/>
          </c:spPr>
          <c:invertIfNegative val="0"/>
          <c:dLbls>
            <c:numFmt formatCode="0.00" sourceLinked="0"/>
            <c:spPr>
              <a:noFill/>
              <a:ln>
                <a:noFill/>
              </a:ln>
              <a:effectLst/>
            </c:spPr>
            <c:txPr>
              <a:bodyPr/>
              <a:lstStyle/>
              <a:p>
                <a:pPr>
                  <a:defRPr sz="1000" b="0" i="0" u="none" strike="noStrike">
                    <a:solidFill>
                      <a:srgbClr val="1E1B3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Louvain vs Fast Greedy</c:v>
                </c:pt>
                <c:pt idx="1">
                  <c:v>Louvain vs BLDLP</c:v>
                </c:pt>
                <c:pt idx="2">
                  <c:v>Fast Greedy vs BLDLP</c:v>
                </c:pt>
              </c:strCache>
            </c:strRef>
          </c:cat>
          <c:val>
            <c:numRef>
              <c:f>Sheet1!$C$2:$C$4</c:f>
              <c:numCache>
                <c:formatCode>General</c:formatCode>
                <c:ptCount val="3"/>
                <c:pt idx="0">
                  <c:v>0.79900000000000004</c:v>
                </c:pt>
                <c:pt idx="1">
                  <c:v>0.71199999999999997</c:v>
                </c:pt>
                <c:pt idx="2">
                  <c:v>0.66700000000000004</c:v>
                </c:pt>
              </c:numCache>
            </c:numRef>
          </c:val>
          <c:extLst>
            <c:ext xmlns:c16="http://schemas.microsoft.com/office/drawing/2014/chart" uri="{C3380CC4-5D6E-409C-BE32-E72D297353CC}">
              <c16:uniqueId val="{00000001-2331-4084-8D5F-F27C223D4D6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5877"/>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DDDAEE"/>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5877"/>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5877"/>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98960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three community detection algorithms compared on the LastFM Asia social network.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is not which algorithm is best in the abstract, but how different objectives shape the groups found in the same graph.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Stanford SNAP (FEATHER). Figures were verified against the downloaded files; they match the published description.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community is purely the algorithm's output: a group of users more densely linked to each other than to the rest. No ground truth exists, so community IDs are arbitrary labels and are never compared across algorithms; partitions are compared with ARI/NMI.</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Louvain is a greedy two-phase modularity optimiser. Randomised node order, so the seed is recorded.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Greedy is the Clauset-Newman-Moore agglomerative method. It is deterministic.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BLDLP here reproduces the only accessible reference implementation. The weight code was checked against the notebook's literal loop. Because random tie-breaks can recur, convergence is not guaranteed; the run hit the iteration cap.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on the following slides are read from the saved result files of the actual runs.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Modularity: Louvain 0.8159, Fast Greedy 0.7966, BLDLP 0.7627. Louvain and Fast Greedy optimise modularity directly; BLDLP does not, so a lower score is expected and is not by itself a verdict. BLDLP is pure Python, so its run time is not comparable to compiled igraph code.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layout coordinates were computed once (DrL, seed 42) and reused so the three pictures are directly comparable. Only the 12 largest communities per algorithm are coloured; the rest are grey.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methods find roughly 10 to 15 communities with 100 or more users. BLDLP additionally leaves hundreds of very small groups, which is why its count is 376.</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Properties are of each community's induced subgraph. Density depends on community size, so densities are not directly comparable between communities of different sizes. All nine communities are connected, so path length and diameter are computed on the whole community. These properties are not shares of overall modularity.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 and NMI compare whole partitions and ignore community IDs, which are arbitrary. Louvain and Fast Greedy are the most similar pair; BLDLP differs most because it is much finer-grained.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takeaways and the honest limitations: single seed, no ground truth, BLDLP source is a notebook rather than a paper.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4F3F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rtlCol="0"/>
          <a:lstStyle>
            <a:lvl1pPr marL="0" indent="0">
              <a:buNone/>
              <a:defRPr lang="en-US" sz="2800" b="1" dirty="0">
                <a:solidFill>
                  <a:srgbClr val="1E1B3A"/>
                </a:solidFill>
                <a:latin typeface="Cambria" pitchFamily="34" charset="0"/>
                <a:ea typeface="Cambria" pitchFamily="34" charset="-122"/>
                <a:cs typeface="Cambria" pitchFamily="34" charset="-120"/>
              </a:defRPr>
            </a:lvl1pPr>
          </a:lstStyle>
          <a:p>
            <a:pPr marL="0" indent="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E1B3A"/>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rtlCol="0"/>
          <a:lstStyle>
            <a:lvl1pPr marL="0" indent="0">
              <a:buNone/>
              <a:defRPr lang="en-US" sz="2800" b="1" dirty="0">
                <a:solidFill>
                  <a:srgbClr val="FFFFFF"/>
                </a:solidFill>
                <a:latin typeface="Cambria" pitchFamily="34" charset="0"/>
                <a:ea typeface="Cambria" pitchFamily="34" charset="-122"/>
                <a:cs typeface="Cambria" pitchFamily="34" charset="-120"/>
              </a:defRPr>
            </a:lvl1pPr>
          </a:lstStyle>
          <a:p>
            <a:pPr marL="0" indent="0">
              <a:buNone/>
            </a:pPr>
            <a:endParaRPr lang="en-US" sz="28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FCBF5"/>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chart" Target="../charts/chart3.xml"/><Relationship Id="rId4" Type="http://schemas.openxmlformats.org/officeDocument/2006/relationships/chart" Target="../charts/char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itle edge 0-0-1"/>
          <p:cNvSpPr/>
          <p:nvPr/>
        </p:nvSpPr>
        <p:spPr>
          <a:xfrm flipV="1">
            <a:off x="5486400" y="1771650"/>
            <a:ext cx="628650" cy="114300"/>
          </a:xfrm>
          <a:prstGeom prst="line">
            <a:avLst/>
          </a:prstGeom>
          <a:noFill/>
          <a:ln w="12700">
            <a:solidFill>
              <a:srgbClr val="9C97D6">
                <a:alpha val="60000"/>
              </a:srgbClr>
            </a:solidFill>
            <a:prstDash val="solid"/>
          </a:ln>
        </p:spPr>
      </p:sp>
      <p:sp>
        <p:nvSpPr>
          <p:cNvPr id="4" name="title edge 0-0-2"/>
          <p:cNvSpPr/>
          <p:nvPr/>
        </p:nvSpPr>
        <p:spPr>
          <a:xfrm>
            <a:off x="5486400" y="1885950"/>
            <a:ext cx="685800" cy="457200"/>
          </a:xfrm>
          <a:prstGeom prst="line">
            <a:avLst/>
          </a:prstGeom>
          <a:noFill/>
          <a:ln w="12700">
            <a:solidFill>
              <a:srgbClr val="9C97D6">
                <a:alpha val="60000"/>
              </a:srgbClr>
            </a:solidFill>
            <a:prstDash val="solid"/>
          </a:ln>
        </p:spPr>
      </p:sp>
      <p:sp>
        <p:nvSpPr>
          <p:cNvPr id="5" name="title edge 0-0-4"/>
          <p:cNvSpPr/>
          <p:nvPr/>
        </p:nvSpPr>
        <p:spPr>
          <a:xfrm>
            <a:off x="5486400" y="1885950"/>
            <a:ext cx="342900" cy="228600"/>
          </a:xfrm>
          <a:prstGeom prst="line">
            <a:avLst/>
          </a:prstGeom>
          <a:noFill/>
          <a:ln w="12700">
            <a:solidFill>
              <a:srgbClr val="9C97D6">
                <a:alpha val="60000"/>
              </a:srgbClr>
            </a:solidFill>
            <a:prstDash val="solid"/>
          </a:ln>
        </p:spPr>
      </p:sp>
      <p:sp>
        <p:nvSpPr>
          <p:cNvPr id="6" name="title edge 0-0-5"/>
          <p:cNvSpPr/>
          <p:nvPr/>
        </p:nvSpPr>
        <p:spPr>
          <a:xfrm flipV="1">
            <a:off x="5486400" y="1485900"/>
            <a:ext cx="400050" cy="400050"/>
          </a:xfrm>
          <a:prstGeom prst="line">
            <a:avLst/>
          </a:prstGeom>
          <a:noFill/>
          <a:ln w="12700">
            <a:solidFill>
              <a:srgbClr val="9C97D6">
                <a:alpha val="60000"/>
              </a:srgbClr>
            </a:solidFill>
            <a:prstDash val="solid"/>
          </a:ln>
        </p:spPr>
      </p:sp>
      <p:sp>
        <p:nvSpPr>
          <p:cNvPr id="7" name="title edge 0-1-2"/>
          <p:cNvSpPr/>
          <p:nvPr/>
        </p:nvSpPr>
        <p:spPr>
          <a:xfrm>
            <a:off x="6115050" y="1771650"/>
            <a:ext cx="57150" cy="571500"/>
          </a:xfrm>
          <a:prstGeom prst="line">
            <a:avLst/>
          </a:prstGeom>
          <a:noFill/>
          <a:ln w="12700">
            <a:solidFill>
              <a:srgbClr val="9C97D6">
                <a:alpha val="60000"/>
              </a:srgbClr>
            </a:solidFill>
            <a:prstDash val="solid"/>
          </a:ln>
        </p:spPr>
      </p:sp>
      <p:sp>
        <p:nvSpPr>
          <p:cNvPr id="8" name="title edge 0-1-3"/>
          <p:cNvSpPr/>
          <p:nvPr/>
        </p:nvSpPr>
        <p:spPr>
          <a:xfrm flipV="1">
            <a:off x="5543550" y="1771650"/>
            <a:ext cx="571500" cy="685800"/>
          </a:xfrm>
          <a:prstGeom prst="line">
            <a:avLst/>
          </a:prstGeom>
          <a:noFill/>
          <a:ln w="12700">
            <a:solidFill>
              <a:srgbClr val="9C97D6">
                <a:alpha val="60000"/>
              </a:srgbClr>
            </a:solidFill>
            <a:prstDash val="solid"/>
          </a:ln>
        </p:spPr>
      </p:sp>
      <p:sp>
        <p:nvSpPr>
          <p:cNvPr id="9" name="title edge 0-1-4"/>
          <p:cNvSpPr/>
          <p:nvPr/>
        </p:nvSpPr>
        <p:spPr>
          <a:xfrm flipV="1">
            <a:off x="5829300" y="1771650"/>
            <a:ext cx="285750" cy="342900"/>
          </a:xfrm>
          <a:prstGeom prst="line">
            <a:avLst/>
          </a:prstGeom>
          <a:noFill/>
          <a:ln w="12700">
            <a:solidFill>
              <a:srgbClr val="9C97D6">
                <a:alpha val="60000"/>
              </a:srgbClr>
            </a:solidFill>
            <a:prstDash val="solid"/>
          </a:ln>
        </p:spPr>
      </p:sp>
      <p:sp>
        <p:nvSpPr>
          <p:cNvPr id="10" name="title edge 0-2-3"/>
          <p:cNvSpPr/>
          <p:nvPr/>
        </p:nvSpPr>
        <p:spPr>
          <a:xfrm flipV="1">
            <a:off x="5543550" y="2343150"/>
            <a:ext cx="628650" cy="114300"/>
          </a:xfrm>
          <a:prstGeom prst="line">
            <a:avLst/>
          </a:prstGeom>
          <a:noFill/>
          <a:ln w="12700">
            <a:solidFill>
              <a:srgbClr val="9C97D6">
                <a:alpha val="60000"/>
              </a:srgbClr>
            </a:solidFill>
            <a:prstDash val="solid"/>
          </a:ln>
        </p:spPr>
      </p:sp>
      <p:sp>
        <p:nvSpPr>
          <p:cNvPr id="11" name="title edge 0-2-5"/>
          <p:cNvSpPr/>
          <p:nvPr/>
        </p:nvSpPr>
        <p:spPr>
          <a:xfrm>
            <a:off x="5886450" y="1485900"/>
            <a:ext cx="285750" cy="857250"/>
          </a:xfrm>
          <a:prstGeom prst="line">
            <a:avLst/>
          </a:prstGeom>
          <a:noFill/>
          <a:ln w="12700">
            <a:solidFill>
              <a:srgbClr val="9C97D6">
                <a:alpha val="60000"/>
              </a:srgbClr>
            </a:solidFill>
            <a:prstDash val="solid"/>
          </a:ln>
        </p:spPr>
      </p:sp>
      <p:sp>
        <p:nvSpPr>
          <p:cNvPr id="12" name="title edge 0-3-4"/>
          <p:cNvSpPr/>
          <p:nvPr/>
        </p:nvSpPr>
        <p:spPr>
          <a:xfrm flipV="1">
            <a:off x="5543550" y="2114550"/>
            <a:ext cx="285750" cy="342900"/>
          </a:xfrm>
          <a:prstGeom prst="line">
            <a:avLst/>
          </a:prstGeom>
          <a:noFill/>
          <a:ln w="12700">
            <a:solidFill>
              <a:srgbClr val="9C97D6">
                <a:alpha val="60000"/>
              </a:srgbClr>
            </a:solidFill>
            <a:prstDash val="solid"/>
          </a:ln>
        </p:spPr>
      </p:sp>
      <p:sp>
        <p:nvSpPr>
          <p:cNvPr id="13" name="title edge 0-3-5"/>
          <p:cNvSpPr/>
          <p:nvPr/>
        </p:nvSpPr>
        <p:spPr>
          <a:xfrm flipV="1">
            <a:off x="5543550" y="1485900"/>
            <a:ext cx="342900" cy="971550"/>
          </a:xfrm>
          <a:prstGeom prst="line">
            <a:avLst/>
          </a:prstGeom>
          <a:noFill/>
          <a:ln w="12700">
            <a:solidFill>
              <a:srgbClr val="9C97D6">
                <a:alpha val="60000"/>
              </a:srgbClr>
            </a:solidFill>
            <a:prstDash val="solid"/>
          </a:ln>
        </p:spPr>
      </p:sp>
      <p:sp>
        <p:nvSpPr>
          <p:cNvPr id="14" name="title edge 0-4-5"/>
          <p:cNvSpPr/>
          <p:nvPr/>
        </p:nvSpPr>
        <p:spPr>
          <a:xfrm flipV="1">
            <a:off x="5829300" y="1485900"/>
            <a:ext cx="57150" cy="628650"/>
          </a:xfrm>
          <a:prstGeom prst="line">
            <a:avLst/>
          </a:prstGeom>
          <a:noFill/>
          <a:ln w="12700">
            <a:solidFill>
              <a:srgbClr val="9C97D6">
                <a:alpha val="60000"/>
              </a:srgbClr>
            </a:solidFill>
            <a:prstDash val="solid"/>
          </a:ln>
        </p:spPr>
      </p:sp>
      <p:sp>
        <p:nvSpPr>
          <p:cNvPr id="15" name="title edge 1-0-1"/>
          <p:cNvSpPr/>
          <p:nvPr/>
        </p:nvSpPr>
        <p:spPr>
          <a:xfrm flipV="1">
            <a:off x="7600950" y="1657350"/>
            <a:ext cx="685800" cy="171450"/>
          </a:xfrm>
          <a:prstGeom prst="line">
            <a:avLst/>
          </a:prstGeom>
          <a:noFill/>
          <a:ln w="12700">
            <a:solidFill>
              <a:srgbClr val="9C97D6">
                <a:alpha val="60000"/>
              </a:srgbClr>
            </a:solidFill>
            <a:prstDash val="solid"/>
          </a:ln>
        </p:spPr>
      </p:sp>
      <p:sp>
        <p:nvSpPr>
          <p:cNvPr id="16" name="title edge 1-0-2"/>
          <p:cNvSpPr/>
          <p:nvPr/>
        </p:nvSpPr>
        <p:spPr>
          <a:xfrm>
            <a:off x="7600950" y="1828800"/>
            <a:ext cx="628650" cy="457200"/>
          </a:xfrm>
          <a:prstGeom prst="line">
            <a:avLst/>
          </a:prstGeom>
          <a:noFill/>
          <a:ln w="12700">
            <a:solidFill>
              <a:srgbClr val="9C97D6">
                <a:alpha val="60000"/>
              </a:srgbClr>
            </a:solidFill>
            <a:prstDash val="solid"/>
          </a:ln>
        </p:spPr>
      </p:sp>
      <p:sp>
        <p:nvSpPr>
          <p:cNvPr id="17" name="title edge 1-0-4"/>
          <p:cNvSpPr/>
          <p:nvPr/>
        </p:nvSpPr>
        <p:spPr>
          <a:xfrm>
            <a:off x="7600950" y="1828800"/>
            <a:ext cx="365760" cy="114300"/>
          </a:xfrm>
          <a:prstGeom prst="line">
            <a:avLst/>
          </a:prstGeom>
          <a:noFill/>
          <a:ln w="12700">
            <a:solidFill>
              <a:srgbClr val="9C97D6">
                <a:alpha val="60000"/>
              </a:srgbClr>
            </a:solidFill>
            <a:prstDash val="solid"/>
          </a:ln>
        </p:spPr>
      </p:sp>
      <p:sp>
        <p:nvSpPr>
          <p:cNvPr id="18" name="title edge 1-0-5"/>
          <p:cNvSpPr/>
          <p:nvPr/>
        </p:nvSpPr>
        <p:spPr>
          <a:xfrm>
            <a:off x="7600950" y="1828800"/>
            <a:ext cx="742950" cy="171450"/>
          </a:xfrm>
          <a:prstGeom prst="line">
            <a:avLst/>
          </a:prstGeom>
          <a:noFill/>
          <a:ln w="12700">
            <a:solidFill>
              <a:srgbClr val="9C97D6">
                <a:alpha val="60000"/>
              </a:srgbClr>
            </a:solidFill>
            <a:prstDash val="solid"/>
          </a:ln>
        </p:spPr>
      </p:sp>
      <p:sp>
        <p:nvSpPr>
          <p:cNvPr id="19" name="title edge 1-1-2"/>
          <p:cNvSpPr/>
          <p:nvPr/>
        </p:nvSpPr>
        <p:spPr>
          <a:xfrm flipV="1">
            <a:off x="8229600" y="1657350"/>
            <a:ext cx="57150" cy="628650"/>
          </a:xfrm>
          <a:prstGeom prst="line">
            <a:avLst/>
          </a:prstGeom>
          <a:noFill/>
          <a:ln w="12700">
            <a:solidFill>
              <a:srgbClr val="9C97D6">
                <a:alpha val="60000"/>
              </a:srgbClr>
            </a:solidFill>
            <a:prstDash val="solid"/>
          </a:ln>
        </p:spPr>
      </p:sp>
      <p:sp>
        <p:nvSpPr>
          <p:cNvPr id="20" name="title edge 1-1-3"/>
          <p:cNvSpPr/>
          <p:nvPr/>
        </p:nvSpPr>
        <p:spPr>
          <a:xfrm flipV="1">
            <a:off x="7715250" y="1657350"/>
            <a:ext cx="571500" cy="628650"/>
          </a:xfrm>
          <a:prstGeom prst="line">
            <a:avLst/>
          </a:prstGeom>
          <a:noFill/>
          <a:ln w="12700">
            <a:solidFill>
              <a:srgbClr val="9C97D6">
                <a:alpha val="60000"/>
              </a:srgbClr>
            </a:solidFill>
            <a:prstDash val="solid"/>
          </a:ln>
        </p:spPr>
      </p:sp>
      <p:sp>
        <p:nvSpPr>
          <p:cNvPr id="21" name="title edge 1-1-4"/>
          <p:cNvSpPr/>
          <p:nvPr/>
        </p:nvSpPr>
        <p:spPr>
          <a:xfrm flipV="1">
            <a:off x="7966710" y="1657350"/>
            <a:ext cx="320040" cy="285750"/>
          </a:xfrm>
          <a:prstGeom prst="line">
            <a:avLst/>
          </a:prstGeom>
          <a:noFill/>
          <a:ln w="12700">
            <a:solidFill>
              <a:srgbClr val="9C97D6">
                <a:alpha val="60000"/>
              </a:srgbClr>
            </a:solidFill>
            <a:prstDash val="solid"/>
          </a:ln>
        </p:spPr>
      </p:sp>
      <p:sp>
        <p:nvSpPr>
          <p:cNvPr id="22" name="title edge 1-2-3"/>
          <p:cNvSpPr/>
          <p:nvPr/>
        </p:nvSpPr>
        <p:spPr>
          <a:xfrm>
            <a:off x="7715250" y="2286000"/>
            <a:ext cx="514350" cy="0"/>
          </a:xfrm>
          <a:prstGeom prst="line">
            <a:avLst/>
          </a:prstGeom>
          <a:noFill/>
          <a:ln w="12700">
            <a:solidFill>
              <a:srgbClr val="9C97D6">
                <a:alpha val="60000"/>
              </a:srgbClr>
            </a:solidFill>
            <a:prstDash val="solid"/>
          </a:ln>
        </p:spPr>
      </p:sp>
      <p:sp>
        <p:nvSpPr>
          <p:cNvPr id="23" name="title edge 1-2-5"/>
          <p:cNvSpPr/>
          <p:nvPr/>
        </p:nvSpPr>
        <p:spPr>
          <a:xfrm flipV="1">
            <a:off x="8229600" y="2000250"/>
            <a:ext cx="114300" cy="285750"/>
          </a:xfrm>
          <a:prstGeom prst="line">
            <a:avLst/>
          </a:prstGeom>
          <a:noFill/>
          <a:ln w="12700">
            <a:solidFill>
              <a:srgbClr val="9C97D6">
                <a:alpha val="60000"/>
              </a:srgbClr>
            </a:solidFill>
            <a:prstDash val="solid"/>
          </a:ln>
        </p:spPr>
      </p:sp>
      <p:sp>
        <p:nvSpPr>
          <p:cNvPr id="24" name="title edge 1-3-4"/>
          <p:cNvSpPr/>
          <p:nvPr/>
        </p:nvSpPr>
        <p:spPr>
          <a:xfrm flipV="1">
            <a:off x="7715250" y="1943100"/>
            <a:ext cx="251460" cy="342900"/>
          </a:xfrm>
          <a:prstGeom prst="line">
            <a:avLst/>
          </a:prstGeom>
          <a:noFill/>
          <a:ln w="12700">
            <a:solidFill>
              <a:srgbClr val="9C97D6">
                <a:alpha val="60000"/>
              </a:srgbClr>
            </a:solidFill>
            <a:prstDash val="solid"/>
          </a:ln>
        </p:spPr>
      </p:sp>
      <p:sp>
        <p:nvSpPr>
          <p:cNvPr id="25" name="title edge 1-3-5"/>
          <p:cNvSpPr/>
          <p:nvPr/>
        </p:nvSpPr>
        <p:spPr>
          <a:xfrm flipV="1">
            <a:off x="7715250" y="2000250"/>
            <a:ext cx="628650" cy="285750"/>
          </a:xfrm>
          <a:prstGeom prst="line">
            <a:avLst/>
          </a:prstGeom>
          <a:noFill/>
          <a:ln w="12700">
            <a:solidFill>
              <a:srgbClr val="9C97D6">
                <a:alpha val="60000"/>
              </a:srgbClr>
            </a:solidFill>
            <a:prstDash val="solid"/>
          </a:ln>
        </p:spPr>
      </p:sp>
      <p:sp>
        <p:nvSpPr>
          <p:cNvPr id="26" name="title edge 1-4-5"/>
          <p:cNvSpPr/>
          <p:nvPr/>
        </p:nvSpPr>
        <p:spPr>
          <a:xfrm>
            <a:off x="7966710" y="1943100"/>
            <a:ext cx="377190" cy="57150"/>
          </a:xfrm>
          <a:prstGeom prst="line">
            <a:avLst/>
          </a:prstGeom>
          <a:noFill/>
          <a:ln w="12700">
            <a:solidFill>
              <a:srgbClr val="9C97D6">
                <a:alpha val="60000"/>
              </a:srgbClr>
            </a:solidFill>
            <a:prstDash val="solid"/>
          </a:ln>
        </p:spPr>
      </p:sp>
      <p:sp>
        <p:nvSpPr>
          <p:cNvPr id="27" name="title edge 2-0-1"/>
          <p:cNvSpPr/>
          <p:nvPr/>
        </p:nvSpPr>
        <p:spPr>
          <a:xfrm>
            <a:off x="6629400" y="3371850"/>
            <a:ext cx="685800" cy="0"/>
          </a:xfrm>
          <a:prstGeom prst="line">
            <a:avLst/>
          </a:prstGeom>
          <a:noFill/>
          <a:ln w="12700">
            <a:solidFill>
              <a:srgbClr val="9C97D6">
                <a:alpha val="60000"/>
              </a:srgbClr>
            </a:solidFill>
            <a:prstDash val="solid"/>
          </a:ln>
        </p:spPr>
      </p:sp>
      <p:sp>
        <p:nvSpPr>
          <p:cNvPr id="28" name="title edge 2-0-2"/>
          <p:cNvSpPr/>
          <p:nvPr/>
        </p:nvSpPr>
        <p:spPr>
          <a:xfrm>
            <a:off x="6629400" y="3371850"/>
            <a:ext cx="685800" cy="514350"/>
          </a:xfrm>
          <a:prstGeom prst="line">
            <a:avLst/>
          </a:prstGeom>
          <a:noFill/>
          <a:ln w="12700">
            <a:solidFill>
              <a:srgbClr val="9C97D6">
                <a:alpha val="60000"/>
              </a:srgbClr>
            </a:solidFill>
            <a:prstDash val="solid"/>
          </a:ln>
        </p:spPr>
      </p:sp>
      <p:sp>
        <p:nvSpPr>
          <p:cNvPr id="29" name="title edge 2-0-4"/>
          <p:cNvSpPr/>
          <p:nvPr/>
        </p:nvSpPr>
        <p:spPr>
          <a:xfrm>
            <a:off x="6629400" y="3371850"/>
            <a:ext cx="342900" cy="228600"/>
          </a:xfrm>
          <a:prstGeom prst="line">
            <a:avLst/>
          </a:prstGeom>
          <a:noFill/>
          <a:ln w="12700">
            <a:solidFill>
              <a:srgbClr val="9C97D6">
                <a:alpha val="60000"/>
              </a:srgbClr>
            </a:solidFill>
            <a:prstDash val="solid"/>
          </a:ln>
        </p:spPr>
      </p:sp>
      <p:sp>
        <p:nvSpPr>
          <p:cNvPr id="30" name="title edge 2-0-5"/>
          <p:cNvSpPr/>
          <p:nvPr/>
        </p:nvSpPr>
        <p:spPr>
          <a:xfrm>
            <a:off x="6629400" y="3371850"/>
            <a:ext cx="285750" cy="742950"/>
          </a:xfrm>
          <a:prstGeom prst="line">
            <a:avLst/>
          </a:prstGeom>
          <a:noFill/>
          <a:ln w="12700">
            <a:solidFill>
              <a:srgbClr val="9C97D6">
                <a:alpha val="60000"/>
              </a:srgbClr>
            </a:solidFill>
            <a:prstDash val="solid"/>
          </a:ln>
        </p:spPr>
      </p:sp>
      <p:sp>
        <p:nvSpPr>
          <p:cNvPr id="31" name="title edge 2-1-2"/>
          <p:cNvSpPr/>
          <p:nvPr/>
        </p:nvSpPr>
        <p:spPr>
          <a:xfrm>
            <a:off x="7315200" y="3371850"/>
            <a:ext cx="0" cy="514350"/>
          </a:xfrm>
          <a:prstGeom prst="line">
            <a:avLst/>
          </a:prstGeom>
          <a:noFill/>
          <a:ln w="12700">
            <a:solidFill>
              <a:srgbClr val="9C97D6">
                <a:alpha val="60000"/>
              </a:srgbClr>
            </a:solidFill>
            <a:prstDash val="solid"/>
          </a:ln>
        </p:spPr>
      </p:sp>
      <p:sp>
        <p:nvSpPr>
          <p:cNvPr id="32" name="title edge 2-1-3"/>
          <p:cNvSpPr/>
          <p:nvPr/>
        </p:nvSpPr>
        <p:spPr>
          <a:xfrm flipV="1">
            <a:off x="6629400" y="3371850"/>
            <a:ext cx="685800" cy="514350"/>
          </a:xfrm>
          <a:prstGeom prst="line">
            <a:avLst/>
          </a:prstGeom>
          <a:noFill/>
          <a:ln w="12700">
            <a:solidFill>
              <a:srgbClr val="9C97D6">
                <a:alpha val="60000"/>
              </a:srgbClr>
            </a:solidFill>
            <a:prstDash val="solid"/>
          </a:ln>
        </p:spPr>
      </p:sp>
      <p:sp>
        <p:nvSpPr>
          <p:cNvPr id="33" name="title edge 2-1-4"/>
          <p:cNvSpPr/>
          <p:nvPr/>
        </p:nvSpPr>
        <p:spPr>
          <a:xfrm flipV="1">
            <a:off x="6972300" y="3371850"/>
            <a:ext cx="342900" cy="228600"/>
          </a:xfrm>
          <a:prstGeom prst="line">
            <a:avLst/>
          </a:prstGeom>
          <a:noFill/>
          <a:ln w="12700">
            <a:solidFill>
              <a:srgbClr val="9C97D6">
                <a:alpha val="60000"/>
              </a:srgbClr>
            </a:solidFill>
            <a:prstDash val="solid"/>
          </a:ln>
        </p:spPr>
      </p:sp>
      <p:sp>
        <p:nvSpPr>
          <p:cNvPr id="34" name="title edge 2-2-3"/>
          <p:cNvSpPr/>
          <p:nvPr/>
        </p:nvSpPr>
        <p:spPr>
          <a:xfrm>
            <a:off x="6629400" y="3886200"/>
            <a:ext cx="685800" cy="0"/>
          </a:xfrm>
          <a:prstGeom prst="line">
            <a:avLst/>
          </a:prstGeom>
          <a:noFill/>
          <a:ln w="12700">
            <a:solidFill>
              <a:srgbClr val="9C97D6">
                <a:alpha val="60000"/>
              </a:srgbClr>
            </a:solidFill>
            <a:prstDash val="solid"/>
          </a:ln>
        </p:spPr>
      </p:sp>
      <p:sp>
        <p:nvSpPr>
          <p:cNvPr id="35" name="title edge 2-2-5"/>
          <p:cNvSpPr/>
          <p:nvPr/>
        </p:nvSpPr>
        <p:spPr>
          <a:xfrm flipV="1">
            <a:off x="6915150" y="3886200"/>
            <a:ext cx="400050" cy="228600"/>
          </a:xfrm>
          <a:prstGeom prst="line">
            <a:avLst/>
          </a:prstGeom>
          <a:noFill/>
          <a:ln w="12700">
            <a:solidFill>
              <a:srgbClr val="9C97D6">
                <a:alpha val="60000"/>
              </a:srgbClr>
            </a:solidFill>
            <a:prstDash val="solid"/>
          </a:ln>
        </p:spPr>
      </p:sp>
      <p:sp>
        <p:nvSpPr>
          <p:cNvPr id="36" name="title edge 2-3-4"/>
          <p:cNvSpPr/>
          <p:nvPr/>
        </p:nvSpPr>
        <p:spPr>
          <a:xfrm flipV="1">
            <a:off x="6629400" y="3600450"/>
            <a:ext cx="342900" cy="285750"/>
          </a:xfrm>
          <a:prstGeom prst="line">
            <a:avLst/>
          </a:prstGeom>
          <a:noFill/>
          <a:ln w="12700">
            <a:solidFill>
              <a:srgbClr val="9C97D6">
                <a:alpha val="60000"/>
              </a:srgbClr>
            </a:solidFill>
            <a:prstDash val="solid"/>
          </a:ln>
        </p:spPr>
      </p:sp>
      <p:sp>
        <p:nvSpPr>
          <p:cNvPr id="37" name="title edge 2-3-5"/>
          <p:cNvSpPr/>
          <p:nvPr/>
        </p:nvSpPr>
        <p:spPr>
          <a:xfrm>
            <a:off x="6629400" y="3886200"/>
            <a:ext cx="285750" cy="228600"/>
          </a:xfrm>
          <a:prstGeom prst="line">
            <a:avLst/>
          </a:prstGeom>
          <a:noFill/>
          <a:ln w="12700">
            <a:solidFill>
              <a:srgbClr val="9C97D6">
                <a:alpha val="60000"/>
              </a:srgbClr>
            </a:solidFill>
            <a:prstDash val="solid"/>
          </a:ln>
        </p:spPr>
      </p:sp>
      <p:sp>
        <p:nvSpPr>
          <p:cNvPr id="38" name="title edge 2-4-5"/>
          <p:cNvSpPr/>
          <p:nvPr/>
        </p:nvSpPr>
        <p:spPr>
          <a:xfrm flipV="1">
            <a:off x="6915150" y="3600450"/>
            <a:ext cx="57150" cy="514350"/>
          </a:xfrm>
          <a:prstGeom prst="line">
            <a:avLst/>
          </a:prstGeom>
          <a:noFill/>
          <a:ln w="12700">
            <a:solidFill>
              <a:srgbClr val="9C97D6">
                <a:alpha val="60000"/>
              </a:srgbClr>
            </a:solidFill>
            <a:prstDash val="solid"/>
          </a:ln>
        </p:spPr>
      </p:sp>
      <p:sp>
        <p:nvSpPr>
          <p:cNvPr id="39" name="title bridge 0"/>
          <p:cNvSpPr/>
          <p:nvPr/>
        </p:nvSpPr>
        <p:spPr>
          <a:xfrm flipV="1">
            <a:off x="5829300" y="1943100"/>
            <a:ext cx="2137410" cy="171450"/>
          </a:xfrm>
          <a:prstGeom prst="line">
            <a:avLst/>
          </a:prstGeom>
          <a:noFill/>
          <a:ln w="9525">
            <a:solidFill>
              <a:srgbClr val="9C97D6">
                <a:alpha val="45000"/>
              </a:srgbClr>
            </a:solidFill>
            <a:prstDash val="solid"/>
          </a:ln>
        </p:spPr>
      </p:sp>
      <p:sp>
        <p:nvSpPr>
          <p:cNvPr id="40" name="title bridge 1"/>
          <p:cNvSpPr/>
          <p:nvPr/>
        </p:nvSpPr>
        <p:spPr>
          <a:xfrm flipV="1">
            <a:off x="6629400" y="2286000"/>
            <a:ext cx="1085850" cy="1085850"/>
          </a:xfrm>
          <a:prstGeom prst="line">
            <a:avLst/>
          </a:prstGeom>
          <a:noFill/>
          <a:ln w="9525">
            <a:solidFill>
              <a:srgbClr val="9C97D6">
                <a:alpha val="45000"/>
              </a:srgbClr>
            </a:solidFill>
            <a:prstDash val="solid"/>
          </a:ln>
        </p:spPr>
      </p:sp>
      <p:sp>
        <p:nvSpPr>
          <p:cNvPr id="41" name="title bridge 2"/>
          <p:cNvSpPr/>
          <p:nvPr/>
        </p:nvSpPr>
        <p:spPr>
          <a:xfrm>
            <a:off x="6172200" y="2343150"/>
            <a:ext cx="1143000" cy="1028700"/>
          </a:xfrm>
          <a:prstGeom prst="line">
            <a:avLst/>
          </a:prstGeom>
          <a:noFill/>
          <a:ln w="9525">
            <a:solidFill>
              <a:srgbClr val="9C97D6">
                <a:alpha val="45000"/>
              </a:srgbClr>
            </a:solidFill>
            <a:prstDash val="solid"/>
          </a:ln>
        </p:spPr>
      </p:sp>
      <p:sp>
        <p:nvSpPr>
          <p:cNvPr id="42" name="title node 0-0"/>
          <p:cNvSpPr/>
          <p:nvPr/>
        </p:nvSpPr>
        <p:spPr>
          <a:xfrm>
            <a:off x="5422392" y="1821942"/>
            <a:ext cx="128016" cy="128016"/>
          </a:xfrm>
          <a:prstGeom prst="ellipse">
            <a:avLst/>
          </a:prstGeom>
          <a:solidFill>
            <a:srgbClr val="3F6FA0"/>
          </a:solidFill>
          <a:ln w="12700">
            <a:solidFill>
              <a:srgbClr val="1E1B3A"/>
            </a:solidFill>
            <a:prstDash val="solid"/>
          </a:ln>
        </p:spPr>
      </p:sp>
      <p:sp>
        <p:nvSpPr>
          <p:cNvPr id="43" name="title node 0-1"/>
          <p:cNvSpPr/>
          <p:nvPr/>
        </p:nvSpPr>
        <p:spPr>
          <a:xfrm>
            <a:off x="6051042" y="1707642"/>
            <a:ext cx="128016" cy="128016"/>
          </a:xfrm>
          <a:prstGeom prst="ellipse">
            <a:avLst/>
          </a:prstGeom>
          <a:solidFill>
            <a:srgbClr val="3F6FA0"/>
          </a:solidFill>
          <a:ln w="12700">
            <a:solidFill>
              <a:srgbClr val="1E1B3A"/>
            </a:solidFill>
            <a:prstDash val="solid"/>
          </a:ln>
        </p:spPr>
      </p:sp>
      <p:sp>
        <p:nvSpPr>
          <p:cNvPr id="44" name="title node 0-2"/>
          <p:cNvSpPr/>
          <p:nvPr/>
        </p:nvSpPr>
        <p:spPr>
          <a:xfrm>
            <a:off x="6108192" y="2279142"/>
            <a:ext cx="128016" cy="128016"/>
          </a:xfrm>
          <a:prstGeom prst="ellipse">
            <a:avLst/>
          </a:prstGeom>
          <a:solidFill>
            <a:srgbClr val="3F6FA0"/>
          </a:solidFill>
          <a:ln w="12700">
            <a:solidFill>
              <a:srgbClr val="1E1B3A"/>
            </a:solidFill>
            <a:prstDash val="solid"/>
          </a:ln>
        </p:spPr>
      </p:sp>
      <p:sp>
        <p:nvSpPr>
          <p:cNvPr id="45" name="title node 0-3"/>
          <p:cNvSpPr/>
          <p:nvPr/>
        </p:nvSpPr>
        <p:spPr>
          <a:xfrm>
            <a:off x="5479542" y="2393442"/>
            <a:ext cx="128016" cy="128016"/>
          </a:xfrm>
          <a:prstGeom prst="ellipse">
            <a:avLst/>
          </a:prstGeom>
          <a:solidFill>
            <a:srgbClr val="3F6FA0"/>
          </a:solidFill>
          <a:ln w="12700">
            <a:solidFill>
              <a:srgbClr val="1E1B3A"/>
            </a:solidFill>
            <a:prstDash val="solid"/>
          </a:ln>
        </p:spPr>
      </p:sp>
      <p:sp>
        <p:nvSpPr>
          <p:cNvPr id="46" name="title node 0-4"/>
          <p:cNvSpPr/>
          <p:nvPr/>
        </p:nvSpPr>
        <p:spPr>
          <a:xfrm>
            <a:off x="5765292" y="2050542"/>
            <a:ext cx="128016" cy="128016"/>
          </a:xfrm>
          <a:prstGeom prst="ellipse">
            <a:avLst/>
          </a:prstGeom>
          <a:solidFill>
            <a:srgbClr val="3F6FA0"/>
          </a:solidFill>
          <a:ln w="12700">
            <a:solidFill>
              <a:srgbClr val="1E1B3A"/>
            </a:solidFill>
            <a:prstDash val="solid"/>
          </a:ln>
        </p:spPr>
      </p:sp>
      <p:sp>
        <p:nvSpPr>
          <p:cNvPr id="47" name="title node 0-5"/>
          <p:cNvSpPr/>
          <p:nvPr/>
        </p:nvSpPr>
        <p:spPr>
          <a:xfrm>
            <a:off x="5822442" y="1421892"/>
            <a:ext cx="128016" cy="128016"/>
          </a:xfrm>
          <a:prstGeom prst="ellipse">
            <a:avLst/>
          </a:prstGeom>
          <a:solidFill>
            <a:srgbClr val="3F6FA0"/>
          </a:solidFill>
          <a:ln w="12700">
            <a:solidFill>
              <a:srgbClr val="1E1B3A"/>
            </a:solidFill>
            <a:prstDash val="solid"/>
          </a:ln>
        </p:spPr>
      </p:sp>
      <p:sp>
        <p:nvSpPr>
          <p:cNvPr id="48" name="title node 1-0"/>
          <p:cNvSpPr/>
          <p:nvPr/>
        </p:nvSpPr>
        <p:spPr>
          <a:xfrm>
            <a:off x="7536942" y="1764792"/>
            <a:ext cx="128016" cy="128016"/>
          </a:xfrm>
          <a:prstGeom prst="ellipse">
            <a:avLst/>
          </a:prstGeom>
          <a:solidFill>
            <a:srgbClr val="D9730D"/>
          </a:solidFill>
          <a:ln w="12700">
            <a:solidFill>
              <a:srgbClr val="1E1B3A"/>
            </a:solidFill>
            <a:prstDash val="solid"/>
          </a:ln>
        </p:spPr>
      </p:sp>
      <p:sp>
        <p:nvSpPr>
          <p:cNvPr id="49" name="title node 1-1"/>
          <p:cNvSpPr/>
          <p:nvPr/>
        </p:nvSpPr>
        <p:spPr>
          <a:xfrm>
            <a:off x="8222742" y="1593342"/>
            <a:ext cx="128016" cy="128016"/>
          </a:xfrm>
          <a:prstGeom prst="ellipse">
            <a:avLst/>
          </a:prstGeom>
          <a:solidFill>
            <a:srgbClr val="D9730D"/>
          </a:solidFill>
          <a:ln w="12700">
            <a:solidFill>
              <a:srgbClr val="1E1B3A"/>
            </a:solidFill>
            <a:prstDash val="solid"/>
          </a:ln>
        </p:spPr>
      </p:sp>
      <p:sp>
        <p:nvSpPr>
          <p:cNvPr id="50" name="title node 1-2"/>
          <p:cNvSpPr/>
          <p:nvPr/>
        </p:nvSpPr>
        <p:spPr>
          <a:xfrm>
            <a:off x="8165592" y="2221992"/>
            <a:ext cx="128016" cy="128016"/>
          </a:xfrm>
          <a:prstGeom prst="ellipse">
            <a:avLst/>
          </a:prstGeom>
          <a:solidFill>
            <a:srgbClr val="D9730D"/>
          </a:solidFill>
          <a:ln w="12700">
            <a:solidFill>
              <a:srgbClr val="1E1B3A"/>
            </a:solidFill>
            <a:prstDash val="solid"/>
          </a:ln>
        </p:spPr>
      </p:sp>
      <p:sp>
        <p:nvSpPr>
          <p:cNvPr id="51" name="title node 1-3"/>
          <p:cNvSpPr/>
          <p:nvPr/>
        </p:nvSpPr>
        <p:spPr>
          <a:xfrm>
            <a:off x="7651242" y="2221992"/>
            <a:ext cx="128016" cy="128016"/>
          </a:xfrm>
          <a:prstGeom prst="ellipse">
            <a:avLst/>
          </a:prstGeom>
          <a:solidFill>
            <a:srgbClr val="D9730D"/>
          </a:solidFill>
          <a:ln w="12700">
            <a:solidFill>
              <a:srgbClr val="1E1B3A"/>
            </a:solidFill>
            <a:prstDash val="solid"/>
          </a:ln>
        </p:spPr>
      </p:sp>
      <p:sp>
        <p:nvSpPr>
          <p:cNvPr id="52" name="title node 1-4"/>
          <p:cNvSpPr/>
          <p:nvPr/>
        </p:nvSpPr>
        <p:spPr>
          <a:xfrm>
            <a:off x="7902702" y="1879092"/>
            <a:ext cx="128016" cy="128016"/>
          </a:xfrm>
          <a:prstGeom prst="ellipse">
            <a:avLst/>
          </a:prstGeom>
          <a:solidFill>
            <a:srgbClr val="D9730D"/>
          </a:solidFill>
          <a:ln w="12700">
            <a:solidFill>
              <a:srgbClr val="1E1B3A"/>
            </a:solidFill>
            <a:prstDash val="solid"/>
          </a:ln>
        </p:spPr>
      </p:sp>
      <p:sp>
        <p:nvSpPr>
          <p:cNvPr id="53" name="title node 1-5"/>
          <p:cNvSpPr/>
          <p:nvPr/>
        </p:nvSpPr>
        <p:spPr>
          <a:xfrm>
            <a:off x="8279892" y="1936242"/>
            <a:ext cx="128016" cy="128016"/>
          </a:xfrm>
          <a:prstGeom prst="ellipse">
            <a:avLst/>
          </a:prstGeom>
          <a:solidFill>
            <a:srgbClr val="D9730D"/>
          </a:solidFill>
          <a:ln w="12700">
            <a:solidFill>
              <a:srgbClr val="1E1B3A"/>
            </a:solidFill>
            <a:prstDash val="solid"/>
          </a:ln>
        </p:spPr>
      </p:sp>
      <p:sp>
        <p:nvSpPr>
          <p:cNvPr id="54" name="title node 2-0"/>
          <p:cNvSpPr/>
          <p:nvPr/>
        </p:nvSpPr>
        <p:spPr>
          <a:xfrm>
            <a:off x="6565392" y="3307842"/>
            <a:ext cx="128016" cy="128016"/>
          </a:xfrm>
          <a:prstGeom prst="ellipse">
            <a:avLst/>
          </a:prstGeom>
          <a:solidFill>
            <a:srgbClr val="3E8E41"/>
          </a:solidFill>
          <a:ln w="12700">
            <a:solidFill>
              <a:srgbClr val="1E1B3A"/>
            </a:solidFill>
            <a:prstDash val="solid"/>
          </a:ln>
        </p:spPr>
      </p:sp>
      <p:sp>
        <p:nvSpPr>
          <p:cNvPr id="55" name="title node 2-1"/>
          <p:cNvSpPr/>
          <p:nvPr/>
        </p:nvSpPr>
        <p:spPr>
          <a:xfrm>
            <a:off x="7251192" y="3307842"/>
            <a:ext cx="128016" cy="128016"/>
          </a:xfrm>
          <a:prstGeom prst="ellipse">
            <a:avLst/>
          </a:prstGeom>
          <a:solidFill>
            <a:srgbClr val="3E8E41"/>
          </a:solidFill>
          <a:ln w="12700">
            <a:solidFill>
              <a:srgbClr val="1E1B3A"/>
            </a:solidFill>
            <a:prstDash val="solid"/>
          </a:ln>
        </p:spPr>
      </p:sp>
      <p:sp>
        <p:nvSpPr>
          <p:cNvPr id="56" name="title node 2-2"/>
          <p:cNvSpPr/>
          <p:nvPr/>
        </p:nvSpPr>
        <p:spPr>
          <a:xfrm>
            <a:off x="7251192" y="3822192"/>
            <a:ext cx="128016" cy="128016"/>
          </a:xfrm>
          <a:prstGeom prst="ellipse">
            <a:avLst/>
          </a:prstGeom>
          <a:solidFill>
            <a:srgbClr val="3E8E41"/>
          </a:solidFill>
          <a:ln w="12700">
            <a:solidFill>
              <a:srgbClr val="1E1B3A"/>
            </a:solidFill>
            <a:prstDash val="solid"/>
          </a:ln>
        </p:spPr>
      </p:sp>
      <p:sp>
        <p:nvSpPr>
          <p:cNvPr id="57" name="title node 2-3"/>
          <p:cNvSpPr/>
          <p:nvPr/>
        </p:nvSpPr>
        <p:spPr>
          <a:xfrm>
            <a:off x="6565392" y="3822192"/>
            <a:ext cx="128016" cy="128016"/>
          </a:xfrm>
          <a:prstGeom prst="ellipse">
            <a:avLst/>
          </a:prstGeom>
          <a:solidFill>
            <a:srgbClr val="3E8E41"/>
          </a:solidFill>
          <a:ln w="12700">
            <a:solidFill>
              <a:srgbClr val="1E1B3A"/>
            </a:solidFill>
            <a:prstDash val="solid"/>
          </a:ln>
        </p:spPr>
      </p:sp>
      <p:sp>
        <p:nvSpPr>
          <p:cNvPr id="58" name="title node 2-4"/>
          <p:cNvSpPr/>
          <p:nvPr/>
        </p:nvSpPr>
        <p:spPr>
          <a:xfrm>
            <a:off x="6908292" y="3536442"/>
            <a:ext cx="128016" cy="128016"/>
          </a:xfrm>
          <a:prstGeom prst="ellipse">
            <a:avLst/>
          </a:prstGeom>
          <a:solidFill>
            <a:srgbClr val="3E8E41"/>
          </a:solidFill>
          <a:ln w="12700">
            <a:solidFill>
              <a:srgbClr val="1E1B3A"/>
            </a:solidFill>
            <a:prstDash val="solid"/>
          </a:ln>
        </p:spPr>
      </p:sp>
      <p:sp>
        <p:nvSpPr>
          <p:cNvPr id="59" name="title node 2-5"/>
          <p:cNvSpPr/>
          <p:nvPr/>
        </p:nvSpPr>
        <p:spPr>
          <a:xfrm>
            <a:off x="6851142" y="4050792"/>
            <a:ext cx="128016" cy="128016"/>
          </a:xfrm>
          <a:prstGeom prst="ellipse">
            <a:avLst/>
          </a:prstGeom>
          <a:solidFill>
            <a:srgbClr val="3E8E41"/>
          </a:solidFill>
          <a:ln w="12700">
            <a:solidFill>
              <a:srgbClr val="1E1B3A"/>
            </a:solidFill>
            <a:prstDash val="solid"/>
          </a:ln>
        </p:spPr>
      </p:sp>
      <p:sp>
        <p:nvSpPr>
          <p:cNvPr id="60" name="Text 57"/>
          <p:cNvSpPr txBox="1"/>
          <p:nvPr/>
        </p:nvSpPr>
        <p:spPr>
          <a:xfrm>
            <a:off x="548640" y="1188720"/>
            <a:ext cx="5120640" cy="137160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Comparative Community Detection</a:t>
            </a:r>
            <a:endParaRPr lang="en-US" sz="3800" dirty="0"/>
          </a:p>
        </p:txBody>
      </p:sp>
      <p:sp>
        <p:nvSpPr>
          <p:cNvPr id="61" name="Text 58"/>
          <p:cNvSpPr txBox="1"/>
          <p:nvPr/>
        </p:nvSpPr>
        <p:spPr>
          <a:xfrm>
            <a:off x="548640" y="2743200"/>
            <a:ext cx="4937760" cy="731520"/>
          </a:xfrm>
          <a:prstGeom prst="rect">
            <a:avLst/>
          </a:prstGeom>
          <a:noFill/>
          <a:ln/>
        </p:spPr>
        <p:txBody>
          <a:bodyPr wrap="square" lIns="0" tIns="0" rIns="0" bIns="0" rtlCol="0" anchor="t"/>
          <a:lstStyle/>
          <a:p>
            <a:pPr marL="0" indent="0">
              <a:buNone/>
            </a:pPr>
            <a:r>
              <a:rPr lang="en-US" sz="1800" dirty="0">
                <a:solidFill>
                  <a:srgbClr val="CFCBF5"/>
                </a:solidFill>
                <a:latin typeface="Calibri" pitchFamily="34" charset="0"/>
                <a:ea typeface="Calibri" pitchFamily="34" charset="-122"/>
                <a:cs typeface="Calibri" pitchFamily="34" charset="-120"/>
              </a:rPr>
              <a:t>Louvain · Fast Greedy · BLDLP on the LastFM Asia social network</a:t>
            </a:r>
            <a:endParaRPr lang="en-US" sz="1800" dirty="0"/>
          </a:p>
        </p:txBody>
      </p:sp>
      <p:sp>
        <p:nvSpPr>
          <p:cNvPr id="62" name="Text 59"/>
          <p:cNvSpPr txBox="1"/>
          <p:nvPr/>
        </p:nvSpPr>
        <p:spPr>
          <a:xfrm>
            <a:off x="548640" y="4206240"/>
            <a:ext cx="5486400" cy="365760"/>
          </a:xfrm>
          <a:prstGeom prst="rect">
            <a:avLst/>
          </a:prstGeom>
          <a:noFill/>
          <a:ln/>
        </p:spPr>
        <p:txBody>
          <a:bodyPr wrap="square" lIns="0" tIns="0" rIns="0" bIns="0" rtlCol="0" anchor="ctr"/>
          <a:lstStyle/>
          <a:p>
            <a:pPr marL="0" indent="0">
              <a:buNone/>
            </a:pPr>
            <a:r>
              <a:rPr lang="en-US" sz="1300" dirty="0">
                <a:solidFill>
                  <a:srgbClr val="CFCBF5"/>
                </a:solidFill>
                <a:latin typeface="Calibri" pitchFamily="34" charset="0"/>
                <a:ea typeface="Calibri" pitchFamily="34" charset="-122"/>
                <a:cs typeface="Calibri" pitchFamily="34" charset="-120"/>
              </a:rPr>
              <a:t>7,624 users · 27,806 mutual-follow links · one graph, three algorithms</a:t>
            </a:r>
            <a:endParaRPr lang="en-US" sz="1300" dirty="0"/>
          </a:p>
        </p:txBody>
      </p:sp>
      <p:sp>
        <p:nvSpPr>
          <p:cNvPr id="63"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endParaRPr lang="en-US" sz="2800" dirty="0"/>
          </a:p>
        </p:txBody>
      </p:sp>
      <p:sp>
        <p:nvSpPr>
          <p:cNvPr id="2"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FCBF5"/>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What we </a:t>
            </a:r>
            <a:r>
              <a:rPr lang="en-US" dirty="0"/>
              <a:t>did:</a:t>
            </a:r>
            <a:endParaRPr lang="en-US" sz="2800" dirty="0"/>
          </a:p>
        </p:txBody>
      </p:sp>
      <p:sp>
        <p:nvSpPr>
          <p:cNvPr id="4" name="Objective card 1"/>
          <p:cNvSpPr/>
          <p:nvPr/>
        </p:nvSpPr>
        <p:spPr>
          <a:xfrm>
            <a:off x="457200" y="1325880"/>
            <a:ext cx="8229600" cy="914400"/>
          </a:xfrm>
          <a:prstGeom prst="roundRect">
            <a:avLst>
              <a:gd name="adj" fmla="val 8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Objective number 1"/>
          <p:cNvSpPr/>
          <p:nvPr/>
        </p:nvSpPr>
        <p:spPr>
          <a:xfrm>
            <a:off x="685800" y="1572768"/>
            <a:ext cx="411480" cy="411480"/>
          </a:xfrm>
          <a:prstGeom prst="ellipse">
            <a:avLst/>
          </a:prstGeom>
          <a:solidFill>
            <a:srgbClr val="7C5CFF"/>
          </a:solidFill>
          <a:ln w="12700">
            <a:solidFill>
              <a:srgbClr val="7C5CFF"/>
            </a:solidFill>
            <a:prstDash val="solid"/>
          </a:ln>
        </p:spPr>
      </p:sp>
      <p:sp>
        <p:nvSpPr>
          <p:cNvPr id="6" name="Text 3"/>
          <p:cNvSpPr txBox="1"/>
          <p:nvPr/>
        </p:nvSpPr>
        <p:spPr>
          <a:xfrm>
            <a:off x="685800" y="157276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371600" y="1453896"/>
            <a:ext cx="7040880" cy="320040"/>
          </a:xfrm>
          <a:prstGeom prst="rect">
            <a:avLst/>
          </a:prstGeom>
          <a:noFill/>
          <a:ln/>
        </p:spPr>
        <p:txBody>
          <a:bodyPr wrap="square" lIns="0" tIns="0" rIns="0" bIns="0" rtlCol="0" anchor="ctr"/>
          <a:lstStyle/>
          <a:p>
            <a:pPr marL="0" indent="0">
              <a:buNone/>
            </a:pPr>
            <a:r>
              <a:rPr lang="en-US" sz="1800" b="1" dirty="0">
                <a:solidFill>
                  <a:srgbClr val="1E1B3A"/>
                </a:solidFill>
                <a:latin typeface="Cambria" pitchFamily="34" charset="0"/>
                <a:ea typeface="Cambria" pitchFamily="34" charset="-122"/>
                <a:cs typeface="Cambria" pitchFamily="34" charset="-120"/>
              </a:rPr>
              <a:t>Same graph</a:t>
            </a:r>
            <a:endParaRPr lang="en-US" sz="1800" dirty="0"/>
          </a:p>
        </p:txBody>
      </p:sp>
      <p:sp>
        <p:nvSpPr>
          <p:cNvPr id="8" name="Text 5"/>
          <p:cNvSpPr txBox="1"/>
          <p:nvPr/>
        </p:nvSpPr>
        <p:spPr>
          <a:xfrm>
            <a:off x="1371600" y="1783080"/>
            <a:ext cx="7040880" cy="365760"/>
          </a:xfrm>
          <a:prstGeom prst="rect">
            <a:avLst/>
          </a:prstGeom>
          <a:noFill/>
          <a:ln/>
        </p:spPr>
        <p:txBody>
          <a:bodyPr wrap="square" lIns="0" tIns="0" rIns="0" bIns="0" rtlCol="0" anchor="ctr"/>
          <a:lstStyle/>
          <a:p>
            <a:pPr marL="0" indent="0">
              <a:buNone/>
            </a:pPr>
            <a:r>
              <a:rPr lang="en-US" sz="1400" dirty="0">
                <a:solidFill>
                  <a:srgbClr val="5B5877"/>
                </a:solidFill>
                <a:latin typeface="Calibri" pitchFamily="34" charset="0"/>
                <a:ea typeface="Calibri" pitchFamily="34" charset="-122"/>
                <a:cs typeface="Calibri" pitchFamily="34" charset="-120"/>
              </a:rPr>
              <a:t>One undirected network of LastFM users, loaded and cleaned once, shared by all three algorithms.</a:t>
            </a:r>
            <a:endParaRPr lang="en-US" sz="1400" dirty="0"/>
          </a:p>
        </p:txBody>
      </p:sp>
      <p:sp>
        <p:nvSpPr>
          <p:cNvPr id="9" name="Objective card 2"/>
          <p:cNvSpPr/>
          <p:nvPr/>
        </p:nvSpPr>
        <p:spPr>
          <a:xfrm>
            <a:off x="457200" y="2423160"/>
            <a:ext cx="8229600" cy="914400"/>
          </a:xfrm>
          <a:prstGeom prst="roundRect">
            <a:avLst>
              <a:gd name="adj" fmla="val 8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0" name="Objective number 2"/>
          <p:cNvSpPr/>
          <p:nvPr/>
        </p:nvSpPr>
        <p:spPr>
          <a:xfrm>
            <a:off x="685800" y="2670048"/>
            <a:ext cx="411480" cy="411480"/>
          </a:xfrm>
          <a:prstGeom prst="ellipse">
            <a:avLst/>
          </a:prstGeom>
          <a:solidFill>
            <a:srgbClr val="7C5CFF"/>
          </a:solidFill>
          <a:ln w="12700">
            <a:solidFill>
              <a:srgbClr val="7C5CFF"/>
            </a:solidFill>
            <a:prstDash val="solid"/>
          </a:ln>
        </p:spPr>
      </p:sp>
      <p:sp>
        <p:nvSpPr>
          <p:cNvPr id="11" name="Text 8"/>
          <p:cNvSpPr txBox="1"/>
          <p:nvPr/>
        </p:nvSpPr>
        <p:spPr>
          <a:xfrm>
            <a:off x="685800" y="267004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1371600" y="2551176"/>
            <a:ext cx="7040880" cy="320040"/>
          </a:xfrm>
          <a:prstGeom prst="rect">
            <a:avLst/>
          </a:prstGeom>
          <a:noFill/>
          <a:ln/>
        </p:spPr>
        <p:txBody>
          <a:bodyPr wrap="square" lIns="0" tIns="0" rIns="0" bIns="0" rtlCol="0" anchor="ctr"/>
          <a:lstStyle/>
          <a:p>
            <a:pPr marL="0" indent="0">
              <a:buNone/>
            </a:pPr>
            <a:r>
              <a:rPr lang="en-US" sz="1800" b="1" dirty="0">
                <a:solidFill>
                  <a:srgbClr val="1E1B3A"/>
                </a:solidFill>
                <a:latin typeface="Cambria" pitchFamily="34" charset="0"/>
                <a:ea typeface="Cambria" pitchFamily="34" charset="-122"/>
                <a:cs typeface="Cambria" pitchFamily="34" charset="-120"/>
              </a:rPr>
              <a:t>Three approaches</a:t>
            </a:r>
            <a:endParaRPr lang="en-US" sz="1800" dirty="0"/>
          </a:p>
        </p:txBody>
      </p:sp>
      <p:sp>
        <p:nvSpPr>
          <p:cNvPr id="13" name="Text 10"/>
          <p:cNvSpPr txBox="1"/>
          <p:nvPr/>
        </p:nvSpPr>
        <p:spPr>
          <a:xfrm>
            <a:off x="1371600" y="2880360"/>
            <a:ext cx="7040880" cy="365760"/>
          </a:xfrm>
          <a:prstGeom prst="rect">
            <a:avLst/>
          </a:prstGeom>
          <a:noFill/>
          <a:ln/>
        </p:spPr>
        <p:txBody>
          <a:bodyPr wrap="square" lIns="0" tIns="0" rIns="0" bIns="0" rtlCol="0" anchor="ctr"/>
          <a:lstStyle/>
          <a:p>
            <a:pPr marL="0" indent="0">
              <a:buNone/>
            </a:pPr>
            <a:r>
              <a:rPr lang="en-US" sz="1400" dirty="0">
                <a:solidFill>
                  <a:srgbClr val="5B5877"/>
                </a:solidFill>
                <a:latin typeface="Calibri" pitchFamily="34" charset="0"/>
                <a:ea typeface="Calibri" pitchFamily="34" charset="-122"/>
                <a:cs typeface="Calibri" pitchFamily="34" charset="-120"/>
              </a:rPr>
              <a:t>Two modularity optimisers (Louvain, Fast Greedy) and one label-propagation method (BLDLP).</a:t>
            </a:r>
            <a:endParaRPr lang="en-US" sz="1400" dirty="0"/>
          </a:p>
        </p:txBody>
      </p:sp>
      <p:sp>
        <p:nvSpPr>
          <p:cNvPr id="14" name="Objective card 3"/>
          <p:cNvSpPr/>
          <p:nvPr/>
        </p:nvSpPr>
        <p:spPr>
          <a:xfrm>
            <a:off x="457200" y="3520440"/>
            <a:ext cx="8229600" cy="914400"/>
          </a:xfrm>
          <a:prstGeom prst="roundRect">
            <a:avLst>
              <a:gd name="adj" fmla="val 8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5" name="Objective number 3"/>
          <p:cNvSpPr/>
          <p:nvPr/>
        </p:nvSpPr>
        <p:spPr>
          <a:xfrm>
            <a:off x="685800" y="3767328"/>
            <a:ext cx="411480" cy="411480"/>
          </a:xfrm>
          <a:prstGeom prst="ellipse">
            <a:avLst/>
          </a:prstGeom>
          <a:solidFill>
            <a:srgbClr val="7C5CFF"/>
          </a:solidFill>
          <a:ln w="12700">
            <a:solidFill>
              <a:srgbClr val="7C5CFF"/>
            </a:solidFill>
            <a:prstDash val="solid"/>
          </a:ln>
        </p:spPr>
      </p:sp>
      <p:sp>
        <p:nvSpPr>
          <p:cNvPr id="16" name="Text 13"/>
          <p:cNvSpPr txBox="1"/>
          <p:nvPr/>
        </p:nvSpPr>
        <p:spPr>
          <a:xfrm>
            <a:off x="685800" y="3767328"/>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1371600" y="3648456"/>
            <a:ext cx="7040880" cy="320040"/>
          </a:xfrm>
          <a:prstGeom prst="rect">
            <a:avLst/>
          </a:prstGeom>
          <a:noFill/>
          <a:ln/>
        </p:spPr>
        <p:txBody>
          <a:bodyPr wrap="square" lIns="0" tIns="0" rIns="0" bIns="0" rtlCol="0" anchor="ctr"/>
          <a:lstStyle/>
          <a:p>
            <a:pPr marL="0" indent="0">
              <a:buNone/>
            </a:pPr>
            <a:r>
              <a:rPr lang="en-US" sz="1800" b="1" dirty="0">
                <a:solidFill>
                  <a:srgbClr val="1E1B3A"/>
                </a:solidFill>
                <a:latin typeface="Cambria" pitchFamily="34" charset="0"/>
                <a:ea typeface="Cambria" pitchFamily="34" charset="-122"/>
                <a:cs typeface="Cambria" pitchFamily="34" charset="-120"/>
              </a:rPr>
              <a:t>Same yardstick</a:t>
            </a:r>
            <a:endParaRPr lang="en-US" sz="1800" dirty="0"/>
          </a:p>
        </p:txBody>
      </p:sp>
      <p:sp>
        <p:nvSpPr>
          <p:cNvPr id="18" name="Text 15"/>
          <p:cNvSpPr txBox="1"/>
          <p:nvPr/>
        </p:nvSpPr>
        <p:spPr>
          <a:xfrm>
            <a:off x="1371600" y="3977640"/>
            <a:ext cx="7040880" cy="365760"/>
          </a:xfrm>
          <a:prstGeom prst="rect">
            <a:avLst/>
          </a:prstGeom>
          <a:noFill/>
          <a:ln/>
        </p:spPr>
        <p:txBody>
          <a:bodyPr wrap="square" lIns="0" tIns="0" rIns="0" bIns="0" rtlCol="0" anchor="ctr"/>
          <a:lstStyle/>
          <a:p>
            <a:pPr marL="0" indent="0">
              <a:buNone/>
            </a:pPr>
            <a:r>
              <a:rPr lang="en-US" sz="1400" dirty="0">
                <a:solidFill>
                  <a:srgbClr val="5B5877"/>
                </a:solidFill>
                <a:latin typeface="Calibri" pitchFamily="34" charset="0"/>
                <a:ea typeface="Calibri" pitchFamily="34" charset="-122"/>
                <a:cs typeface="Calibri" pitchFamily="34" charset="-120"/>
              </a:rPr>
              <a:t>Modularity computed the same way on the same graph, plus community counts, sizes, run time and structure.</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The dataset: LastFM Asia</a:t>
            </a:r>
            <a:endParaRPr lang="en-US" sz="2800" dirty="0"/>
          </a:p>
        </p:txBody>
      </p:sp>
      <p:sp>
        <p:nvSpPr>
          <p:cNvPr id="4" name="Stat tile 1"/>
          <p:cNvSpPr/>
          <p:nvPr/>
        </p:nvSpPr>
        <p:spPr>
          <a:xfrm>
            <a:off x="457200" y="1280160"/>
            <a:ext cx="1920240" cy="1463040"/>
          </a:xfrm>
          <a:prstGeom prst="roundRect">
            <a:avLst>
              <a:gd name="adj" fmla="val 5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Text 2"/>
          <p:cNvSpPr txBox="1"/>
          <p:nvPr/>
        </p:nvSpPr>
        <p:spPr>
          <a:xfrm>
            <a:off x="457200" y="1463040"/>
            <a:ext cx="1920240" cy="685800"/>
          </a:xfrm>
          <a:prstGeom prst="rect">
            <a:avLst/>
          </a:prstGeom>
          <a:noFill/>
          <a:ln/>
        </p:spPr>
        <p:txBody>
          <a:bodyPr wrap="square" lIns="0" tIns="0" rIns="0" bIns="0" rtlCol="0" anchor="ctr"/>
          <a:lstStyle/>
          <a:p>
            <a:pPr marL="0" indent="0" algn="ctr">
              <a:buNone/>
            </a:pPr>
            <a:r>
              <a:rPr lang="en-US" sz="4000" b="1" dirty="0">
                <a:solidFill>
                  <a:srgbClr val="7C5CFF"/>
                </a:solidFill>
                <a:latin typeface="Cambria" pitchFamily="34" charset="0"/>
                <a:ea typeface="Cambria" pitchFamily="34" charset="-122"/>
                <a:cs typeface="Cambria" pitchFamily="34" charset="-120"/>
              </a:rPr>
              <a:t>7,624</a:t>
            </a:r>
            <a:endParaRPr lang="en-US" sz="4000" dirty="0"/>
          </a:p>
        </p:txBody>
      </p:sp>
      <p:sp>
        <p:nvSpPr>
          <p:cNvPr id="6" name="Text 3"/>
          <p:cNvSpPr txBox="1"/>
          <p:nvPr/>
        </p:nvSpPr>
        <p:spPr>
          <a:xfrm>
            <a:off x="548640" y="2148840"/>
            <a:ext cx="1737360" cy="457200"/>
          </a:xfrm>
          <a:prstGeom prst="rect">
            <a:avLst/>
          </a:prstGeom>
          <a:noFill/>
          <a:ln/>
        </p:spPr>
        <p:txBody>
          <a:bodyPr wrap="square" lIns="0" tIns="0" rIns="0" bIns="0" rtlCol="0" anchor="t"/>
          <a:lstStyle/>
          <a:p>
            <a:pPr marL="0" indent="0" algn="ctr">
              <a:buNone/>
            </a:pPr>
            <a:r>
              <a:rPr lang="en-US" sz="1400" dirty="0">
                <a:solidFill>
                  <a:srgbClr val="5B5877"/>
                </a:solidFill>
                <a:latin typeface="Calibri" pitchFamily="34" charset="0"/>
                <a:ea typeface="Calibri" pitchFamily="34" charset="-122"/>
                <a:cs typeface="Calibri" pitchFamily="34" charset="-120"/>
              </a:rPr>
              <a:t>users (nodes)</a:t>
            </a:r>
            <a:endParaRPr lang="en-US" sz="1400" dirty="0"/>
          </a:p>
        </p:txBody>
      </p:sp>
      <p:sp>
        <p:nvSpPr>
          <p:cNvPr id="7" name="Stat tile 2"/>
          <p:cNvSpPr/>
          <p:nvPr/>
        </p:nvSpPr>
        <p:spPr>
          <a:xfrm>
            <a:off x="2560320" y="1280160"/>
            <a:ext cx="1920240" cy="1463040"/>
          </a:xfrm>
          <a:prstGeom prst="roundRect">
            <a:avLst>
              <a:gd name="adj" fmla="val 5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8" name="Text 5"/>
          <p:cNvSpPr txBox="1"/>
          <p:nvPr/>
        </p:nvSpPr>
        <p:spPr>
          <a:xfrm>
            <a:off x="2560320" y="1463040"/>
            <a:ext cx="1920240" cy="685800"/>
          </a:xfrm>
          <a:prstGeom prst="rect">
            <a:avLst/>
          </a:prstGeom>
          <a:noFill/>
          <a:ln/>
        </p:spPr>
        <p:txBody>
          <a:bodyPr wrap="square" lIns="0" tIns="0" rIns="0" bIns="0" rtlCol="0" anchor="ctr"/>
          <a:lstStyle/>
          <a:p>
            <a:pPr marL="0" indent="0" algn="ctr">
              <a:buNone/>
            </a:pPr>
            <a:r>
              <a:rPr lang="en-US" sz="4000" b="1" dirty="0">
                <a:solidFill>
                  <a:srgbClr val="7C5CFF"/>
                </a:solidFill>
                <a:latin typeface="Cambria" pitchFamily="34" charset="0"/>
                <a:ea typeface="Cambria" pitchFamily="34" charset="-122"/>
                <a:cs typeface="Cambria" pitchFamily="34" charset="-120"/>
              </a:rPr>
              <a:t>27,806</a:t>
            </a:r>
            <a:endParaRPr lang="en-US" sz="4000" dirty="0"/>
          </a:p>
        </p:txBody>
      </p:sp>
      <p:sp>
        <p:nvSpPr>
          <p:cNvPr id="9" name="Text 6"/>
          <p:cNvSpPr txBox="1"/>
          <p:nvPr/>
        </p:nvSpPr>
        <p:spPr>
          <a:xfrm>
            <a:off x="2651760" y="2148840"/>
            <a:ext cx="1737360" cy="457200"/>
          </a:xfrm>
          <a:prstGeom prst="rect">
            <a:avLst/>
          </a:prstGeom>
          <a:noFill/>
          <a:ln/>
        </p:spPr>
        <p:txBody>
          <a:bodyPr wrap="square" lIns="0" tIns="0" rIns="0" bIns="0" rtlCol="0" anchor="t"/>
          <a:lstStyle/>
          <a:p>
            <a:pPr marL="0" indent="0" algn="ctr">
              <a:buNone/>
            </a:pPr>
            <a:r>
              <a:rPr lang="en-US" sz="1400" dirty="0">
                <a:solidFill>
                  <a:srgbClr val="5B5877"/>
                </a:solidFill>
                <a:latin typeface="Calibri" pitchFamily="34" charset="0"/>
                <a:ea typeface="Calibri" pitchFamily="34" charset="-122"/>
                <a:cs typeface="Calibri" pitchFamily="34" charset="-120"/>
              </a:rPr>
              <a:t>mutual-follow links</a:t>
            </a:r>
            <a:endParaRPr lang="en-US" sz="1400" dirty="0"/>
          </a:p>
        </p:txBody>
      </p:sp>
      <p:sp>
        <p:nvSpPr>
          <p:cNvPr id="10" name="Stat tile 3"/>
          <p:cNvSpPr/>
          <p:nvPr/>
        </p:nvSpPr>
        <p:spPr>
          <a:xfrm>
            <a:off x="457200" y="2926080"/>
            <a:ext cx="1920240" cy="1463040"/>
          </a:xfrm>
          <a:prstGeom prst="roundRect">
            <a:avLst>
              <a:gd name="adj" fmla="val 5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1" name="Text 8"/>
          <p:cNvSpPr txBox="1"/>
          <p:nvPr/>
        </p:nvSpPr>
        <p:spPr>
          <a:xfrm>
            <a:off x="457200" y="3108960"/>
            <a:ext cx="1920240" cy="685800"/>
          </a:xfrm>
          <a:prstGeom prst="rect">
            <a:avLst/>
          </a:prstGeom>
          <a:noFill/>
          <a:ln/>
        </p:spPr>
        <p:txBody>
          <a:bodyPr wrap="square" lIns="0" tIns="0" rIns="0" bIns="0" rtlCol="0" anchor="ctr"/>
          <a:lstStyle/>
          <a:p>
            <a:pPr marL="0" indent="0" algn="ctr">
              <a:buNone/>
            </a:pPr>
            <a:r>
              <a:rPr lang="en-US" sz="4000" b="1" dirty="0">
                <a:solidFill>
                  <a:srgbClr val="7C5CFF"/>
                </a:solidFill>
                <a:latin typeface="Cambria" pitchFamily="34" charset="0"/>
                <a:ea typeface="Cambria" pitchFamily="34" charset="-122"/>
                <a:cs typeface="Cambria" pitchFamily="34" charset="-120"/>
              </a:rPr>
              <a:t>1</a:t>
            </a:r>
            <a:endParaRPr lang="en-US" sz="4000" dirty="0"/>
          </a:p>
        </p:txBody>
      </p:sp>
      <p:sp>
        <p:nvSpPr>
          <p:cNvPr id="12" name="Text 9"/>
          <p:cNvSpPr txBox="1"/>
          <p:nvPr/>
        </p:nvSpPr>
        <p:spPr>
          <a:xfrm>
            <a:off x="548640" y="3794760"/>
            <a:ext cx="1737360" cy="457200"/>
          </a:xfrm>
          <a:prstGeom prst="rect">
            <a:avLst/>
          </a:prstGeom>
          <a:noFill/>
          <a:ln/>
        </p:spPr>
        <p:txBody>
          <a:bodyPr wrap="square" lIns="0" tIns="0" rIns="0" bIns="0" rtlCol="0" anchor="t"/>
          <a:lstStyle/>
          <a:p>
            <a:pPr marL="0" indent="0" algn="ctr">
              <a:buNone/>
            </a:pPr>
            <a:r>
              <a:rPr lang="en-US" sz="1400" dirty="0">
                <a:solidFill>
                  <a:srgbClr val="5B5877"/>
                </a:solidFill>
                <a:latin typeface="Calibri" pitchFamily="34" charset="0"/>
                <a:ea typeface="Calibri" pitchFamily="34" charset="-122"/>
                <a:cs typeface="Calibri" pitchFamily="34" charset="-120"/>
              </a:rPr>
              <a:t>connected component</a:t>
            </a:r>
            <a:endParaRPr lang="en-US" sz="1400" dirty="0"/>
          </a:p>
        </p:txBody>
      </p:sp>
      <p:sp>
        <p:nvSpPr>
          <p:cNvPr id="13" name="Stat tile 4"/>
          <p:cNvSpPr/>
          <p:nvPr/>
        </p:nvSpPr>
        <p:spPr>
          <a:xfrm>
            <a:off x="2560320" y="2926080"/>
            <a:ext cx="1920240" cy="1463040"/>
          </a:xfrm>
          <a:prstGeom prst="roundRect">
            <a:avLst>
              <a:gd name="adj" fmla="val 50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4" name="Text 11"/>
          <p:cNvSpPr txBox="1"/>
          <p:nvPr/>
        </p:nvSpPr>
        <p:spPr>
          <a:xfrm>
            <a:off x="2560320" y="3108960"/>
            <a:ext cx="1920240" cy="685800"/>
          </a:xfrm>
          <a:prstGeom prst="rect">
            <a:avLst/>
          </a:prstGeom>
          <a:noFill/>
          <a:ln/>
        </p:spPr>
        <p:txBody>
          <a:bodyPr wrap="square" lIns="0" tIns="0" rIns="0" bIns="0" rtlCol="0" anchor="ctr"/>
          <a:lstStyle/>
          <a:p>
            <a:pPr marL="0" indent="0" algn="ctr">
              <a:buNone/>
            </a:pPr>
            <a:r>
              <a:rPr lang="en-US" sz="4000" b="1" dirty="0">
                <a:solidFill>
                  <a:srgbClr val="7C5CFF"/>
                </a:solidFill>
                <a:latin typeface="Cambria" pitchFamily="34" charset="0"/>
                <a:ea typeface="Cambria" pitchFamily="34" charset="-122"/>
                <a:cs typeface="Cambria" pitchFamily="34" charset="-120"/>
              </a:rPr>
              <a:t>18</a:t>
            </a:r>
            <a:endParaRPr lang="en-US" sz="4000" dirty="0"/>
          </a:p>
        </p:txBody>
      </p:sp>
      <p:sp>
        <p:nvSpPr>
          <p:cNvPr id="15" name="Text 12"/>
          <p:cNvSpPr txBox="1"/>
          <p:nvPr/>
        </p:nvSpPr>
        <p:spPr>
          <a:xfrm>
            <a:off x="2651760" y="3794760"/>
            <a:ext cx="1737360" cy="457200"/>
          </a:xfrm>
          <a:prstGeom prst="rect">
            <a:avLst/>
          </a:prstGeom>
          <a:noFill/>
          <a:ln/>
        </p:spPr>
        <p:txBody>
          <a:bodyPr wrap="square" lIns="0" tIns="0" rIns="0" bIns="0" rtlCol="0" anchor="t"/>
          <a:lstStyle/>
          <a:p>
            <a:pPr marL="0" indent="0" algn="ctr">
              <a:buNone/>
            </a:pPr>
            <a:r>
              <a:rPr lang="en-US" sz="1400" dirty="0">
                <a:solidFill>
                  <a:srgbClr val="5B5877"/>
                </a:solidFill>
                <a:latin typeface="Calibri" pitchFamily="34" charset="0"/>
                <a:ea typeface="Calibri" pitchFamily="34" charset="-122"/>
                <a:cs typeface="Calibri" pitchFamily="34" charset="-120"/>
              </a:rPr>
              <a:t>country-derived classes</a:t>
            </a:r>
            <a:endParaRPr lang="en-US" sz="1400" dirty="0"/>
          </a:p>
        </p:txBody>
      </p:sp>
      <p:sp>
        <p:nvSpPr>
          <p:cNvPr id="16" name="Dataset details card"/>
          <p:cNvSpPr/>
          <p:nvPr/>
        </p:nvSpPr>
        <p:spPr>
          <a:xfrm>
            <a:off x="4846320" y="1280160"/>
            <a:ext cx="3840480" cy="3108960"/>
          </a:xfrm>
          <a:prstGeom prst="roundRect">
            <a:avLst>
              <a:gd name="adj" fmla="val 2353"/>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Text 14"/>
          <p:cNvSpPr txBox="1"/>
          <p:nvPr/>
        </p:nvSpPr>
        <p:spPr>
          <a:xfrm>
            <a:off x="5074920" y="1417320"/>
            <a:ext cx="3383280" cy="320040"/>
          </a:xfrm>
          <a:prstGeom prst="rect">
            <a:avLst/>
          </a:prstGeom>
          <a:noFill/>
          <a:ln/>
        </p:spPr>
        <p:txBody>
          <a:bodyPr wrap="square" lIns="0" tIns="0" rIns="0" bIns="0" rtlCol="0" anchor="ctr"/>
          <a:lstStyle/>
          <a:p>
            <a:pPr marL="0" indent="0">
              <a:buNone/>
            </a:pPr>
            <a:r>
              <a:rPr lang="en-US" sz="1700" b="1" dirty="0">
                <a:solidFill>
                  <a:srgbClr val="1E1B3A"/>
                </a:solidFill>
                <a:latin typeface="Cambria" pitchFamily="34" charset="0"/>
                <a:ea typeface="Cambria" pitchFamily="34" charset="-122"/>
                <a:cs typeface="Cambria" pitchFamily="34" charset="-120"/>
              </a:rPr>
              <a:t>What the files contain</a:t>
            </a:r>
            <a:endParaRPr lang="en-US" sz="1700" dirty="0"/>
          </a:p>
        </p:txBody>
      </p:sp>
      <p:sp>
        <p:nvSpPr>
          <p:cNvPr id="18" name="Text 15"/>
          <p:cNvSpPr txBox="1"/>
          <p:nvPr/>
        </p:nvSpPr>
        <p:spPr>
          <a:xfrm>
            <a:off x="5074920" y="1828800"/>
            <a:ext cx="342900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Users from Asian countries; edges are mutual follower relationships (LastFM API, March 2020).</a:t>
            </a:r>
            <a:endParaRPr lang="en-US" sz="1400" dirty="0"/>
          </a:p>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Edge list: node_1, node_2 — undirected.</a:t>
            </a:r>
            <a:endParaRPr lang="en-US" sz="1400" dirty="0"/>
          </a:p>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Target file: integer class per user derived from country (not used for scoring).</a:t>
            </a:r>
            <a:endParaRPr lang="en-US" sz="1400" dirty="0"/>
          </a:p>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Checked: no self-loops, duplicates or missing values; counts match the SNAP description.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What counts as a community here</a:t>
            </a:r>
            <a:endParaRPr lang="en-US" sz="2800" dirty="0"/>
          </a:p>
        </p:txBody>
      </p:sp>
      <p:sp>
        <p:nvSpPr>
          <p:cNvPr id="4" name="Community definition card"/>
          <p:cNvSpPr/>
          <p:nvPr/>
        </p:nvSpPr>
        <p:spPr>
          <a:xfrm>
            <a:off x="457200" y="1280160"/>
            <a:ext cx="4023360" cy="3154680"/>
          </a:xfrm>
          <a:prstGeom prst="roundRect">
            <a:avLst>
              <a:gd name="adj" fmla="val 231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Text 2"/>
          <p:cNvSpPr txBox="1"/>
          <p:nvPr/>
        </p:nvSpPr>
        <p:spPr>
          <a:xfrm>
            <a:off x="685800" y="1417320"/>
            <a:ext cx="3566160" cy="320040"/>
          </a:xfrm>
          <a:prstGeom prst="rect">
            <a:avLst/>
          </a:prstGeom>
          <a:noFill/>
          <a:ln/>
        </p:spPr>
        <p:txBody>
          <a:bodyPr wrap="square" lIns="0" tIns="0" rIns="0" bIns="0" rtlCol="0" anchor="ctr"/>
          <a:lstStyle/>
          <a:p>
            <a:pPr marL="0" indent="0">
              <a:buNone/>
            </a:pPr>
            <a:r>
              <a:rPr lang="en-US" sz="1700" b="1" dirty="0">
                <a:solidFill>
                  <a:srgbClr val="1E1B3A"/>
                </a:solidFill>
                <a:latin typeface="Cambria" pitchFamily="34" charset="0"/>
                <a:ea typeface="Cambria" pitchFamily="34" charset="-122"/>
                <a:cs typeface="Cambria" pitchFamily="34" charset="-120"/>
              </a:rPr>
              <a:t>In this project</a:t>
            </a:r>
            <a:endParaRPr lang="en-US" sz="1700" dirty="0"/>
          </a:p>
        </p:txBody>
      </p:sp>
      <p:sp>
        <p:nvSpPr>
          <p:cNvPr id="6" name="Text 3"/>
          <p:cNvSpPr txBox="1"/>
          <p:nvPr/>
        </p:nvSpPr>
        <p:spPr>
          <a:xfrm>
            <a:off x="685800" y="1828800"/>
            <a:ext cx="3566160" cy="25146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A community is a group of users who follow each other far more than they follow outsiders.</a:t>
            </a:r>
            <a:endParaRPr lang="en-US" sz="1400" dirty="0"/>
          </a:p>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Each algorithm returns a partition: every user is in exactly one community.</a:t>
            </a:r>
            <a:endParaRPr lang="en-US" sz="1400" dirty="0"/>
          </a:p>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Community IDs are arbitrary labels, so only whole partitions are compared.</a:t>
            </a:r>
            <a:endParaRPr lang="en-US" sz="1400" dirty="0"/>
          </a:p>
          <a:p>
            <a:pPr marL="342900" indent="-342900">
              <a:spcAft>
                <a:spcPts val="600"/>
              </a:spcAft>
              <a:buSzPct val="100000"/>
              <a:buChar char="•"/>
            </a:pPr>
            <a:r>
              <a:rPr lang="en-US" sz="1400" dirty="0">
                <a:solidFill>
                  <a:srgbClr val="1E1B3A"/>
                </a:solidFill>
                <a:latin typeface="Calibri" pitchFamily="34" charset="0"/>
                <a:ea typeface="Calibri" pitchFamily="34" charset="-122"/>
                <a:cs typeface="Calibri" pitchFamily="34" charset="-120"/>
              </a:rPr>
              <a:t>No ground truth: country labels are not used as the answer.</a:t>
            </a:r>
            <a:endParaRPr lang="en-US" sz="1400" dirty="0"/>
          </a:p>
        </p:txBody>
      </p:sp>
      <p:sp>
        <p:nvSpPr>
          <p:cNvPr id="7" name="Schematic card"/>
          <p:cNvSpPr/>
          <p:nvPr/>
        </p:nvSpPr>
        <p:spPr>
          <a:xfrm>
            <a:off x="4663440" y="1280160"/>
            <a:ext cx="4023360" cy="1691640"/>
          </a:xfrm>
          <a:prstGeom prst="roundRect">
            <a:avLst>
              <a:gd name="adj" fmla="val 432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8" name="schema edge 0-0-1"/>
          <p:cNvSpPr/>
          <p:nvPr/>
        </p:nvSpPr>
        <p:spPr>
          <a:xfrm flipV="1">
            <a:off x="6071616" y="1776222"/>
            <a:ext cx="276606" cy="50292"/>
          </a:xfrm>
          <a:prstGeom prst="line">
            <a:avLst/>
          </a:prstGeom>
          <a:noFill/>
          <a:ln w="12700">
            <a:solidFill>
              <a:srgbClr val="9A96BC">
                <a:alpha val="60000"/>
              </a:srgbClr>
            </a:solidFill>
            <a:prstDash val="solid"/>
          </a:ln>
        </p:spPr>
      </p:sp>
      <p:sp>
        <p:nvSpPr>
          <p:cNvPr id="9" name="schema edge 0-0-2"/>
          <p:cNvSpPr/>
          <p:nvPr/>
        </p:nvSpPr>
        <p:spPr>
          <a:xfrm>
            <a:off x="6071616" y="1826514"/>
            <a:ext cx="301752" cy="201168"/>
          </a:xfrm>
          <a:prstGeom prst="line">
            <a:avLst/>
          </a:prstGeom>
          <a:noFill/>
          <a:ln w="12700">
            <a:solidFill>
              <a:srgbClr val="9A96BC">
                <a:alpha val="60000"/>
              </a:srgbClr>
            </a:solidFill>
            <a:prstDash val="solid"/>
          </a:ln>
        </p:spPr>
      </p:sp>
      <p:sp>
        <p:nvSpPr>
          <p:cNvPr id="10" name="schema edge 0-0-4"/>
          <p:cNvSpPr/>
          <p:nvPr/>
        </p:nvSpPr>
        <p:spPr>
          <a:xfrm>
            <a:off x="6071616" y="1826514"/>
            <a:ext cx="150876" cy="100584"/>
          </a:xfrm>
          <a:prstGeom prst="line">
            <a:avLst/>
          </a:prstGeom>
          <a:noFill/>
          <a:ln w="12700">
            <a:solidFill>
              <a:srgbClr val="9A96BC">
                <a:alpha val="60000"/>
              </a:srgbClr>
            </a:solidFill>
            <a:prstDash val="solid"/>
          </a:ln>
        </p:spPr>
      </p:sp>
      <p:sp>
        <p:nvSpPr>
          <p:cNvPr id="11" name="schema edge 0-0-5"/>
          <p:cNvSpPr/>
          <p:nvPr/>
        </p:nvSpPr>
        <p:spPr>
          <a:xfrm flipV="1">
            <a:off x="6071616" y="1650492"/>
            <a:ext cx="176022" cy="176022"/>
          </a:xfrm>
          <a:prstGeom prst="line">
            <a:avLst/>
          </a:prstGeom>
          <a:noFill/>
          <a:ln w="12700">
            <a:solidFill>
              <a:srgbClr val="9A96BC">
                <a:alpha val="60000"/>
              </a:srgbClr>
            </a:solidFill>
            <a:prstDash val="solid"/>
          </a:ln>
        </p:spPr>
      </p:sp>
      <p:sp>
        <p:nvSpPr>
          <p:cNvPr id="12" name="schema edge 0-1-2"/>
          <p:cNvSpPr/>
          <p:nvPr/>
        </p:nvSpPr>
        <p:spPr>
          <a:xfrm>
            <a:off x="6348222" y="1776222"/>
            <a:ext cx="25146" cy="251460"/>
          </a:xfrm>
          <a:prstGeom prst="line">
            <a:avLst/>
          </a:prstGeom>
          <a:noFill/>
          <a:ln w="12700">
            <a:solidFill>
              <a:srgbClr val="9A96BC">
                <a:alpha val="60000"/>
              </a:srgbClr>
            </a:solidFill>
            <a:prstDash val="solid"/>
          </a:ln>
        </p:spPr>
      </p:sp>
      <p:sp>
        <p:nvSpPr>
          <p:cNvPr id="13" name="schema edge 0-1-3"/>
          <p:cNvSpPr/>
          <p:nvPr/>
        </p:nvSpPr>
        <p:spPr>
          <a:xfrm flipV="1">
            <a:off x="6096762" y="1776222"/>
            <a:ext cx="251460" cy="301752"/>
          </a:xfrm>
          <a:prstGeom prst="line">
            <a:avLst/>
          </a:prstGeom>
          <a:noFill/>
          <a:ln w="12700">
            <a:solidFill>
              <a:srgbClr val="9A96BC">
                <a:alpha val="60000"/>
              </a:srgbClr>
            </a:solidFill>
            <a:prstDash val="solid"/>
          </a:ln>
        </p:spPr>
      </p:sp>
      <p:sp>
        <p:nvSpPr>
          <p:cNvPr id="14" name="schema edge 0-1-4"/>
          <p:cNvSpPr/>
          <p:nvPr/>
        </p:nvSpPr>
        <p:spPr>
          <a:xfrm flipV="1">
            <a:off x="6222492" y="1776222"/>
            <a:ext cx="125730" cy="150876"/>
          </a:xfrm>
          <a:prstGeom prst="line">
            <a:avLst/>
          </a:prstGeom>
          <a:noFill/>
          <a:ln w="12700">
            <a:solidFill>
              <a:srgbClr val="9A96BC">
                <a:alpha val="60000"/>
              </a:srgbClr>
            </a:solidFill>
            <a:prstDash val="solid"/>
          </a:ln>
        </p:spPr>
      </p:sp>
      <p:sp>
        <p:nvSpPr>
          <p:cNvPr id="15" name="schema edge 0-2-3"/>
          <p:cNvSpPr/>
          <p:nvPr/>
        </p:nvSpPr>
        <p:spPr>
          <a:xfrm flipV="1">
            <a:off x="6096762" y="2027682"/>
            <a:ext cx="276606" cy="50292"/>
          </a:xfrm>
          <a:prstGeom prst="line">
            <a:avLst/>
          </a:prstGeom>
          <a:noFill/>
          <a:ln w="12700">
            <a:solidFill>
              <a:srgbClr val="9A96BC">
                <a:alpha val="60000"/>
              </a:srgbClr>
            </a:solidFill>
            <a:prstDash val="solid"/>
          </a:ln>
        </p:spPr>
      </p:sp>
      <p:sp>
        <p:nvSpPr>
          <p:cNvPr id="16" name="schema edge 0-2-5"/>
          <p:cNvSpPr/>
          <p:nvPr/>
        </p:nvSpPr>
        <p:spPr>
          <a:xfrm>
            <a:off x="6247638" y="1650492"/>
            <a:ext cx="125730" cy="377190"/>
          </a:xfrm>
          <a:prstGeom prst="line">
            <a:avLst/>
          </a:prstGeom>
          <a:noFill/>
          <a:ln w="12700">
            <a:solidFill>
              <a:srgbClr val="9A96BC">
                <a:alpha val="60000"/>
              </a:srgbClr>
            </a:solidFill>
            <a:prstDash val="solid"/>
          </a:ln>
        </p:spPr>
      </p:sp>
      <p:sp>
        <p:nvSpPr>
          <p:cNvPr id="17" name="schema edge 0-3-4"/>
          <p:cNvSpPr/>
          <p:nvPr/>
        </p:nvSpPr>
        <p:spPr>
          <a:xfrm flipV="1">
            <a:off x="6096762" y="1927098"/>
            <a:ext cx="125730" cy="150876"/>
          </a:xfrm>
          <a:prstGeom prst="line">
            <a:avLst/>
          </a:prstGeom>
          <a:noFill/>
          <a:ln w="12700">
            <a:solidFill>
              <a:srgbClr val="9A96BC">
                <a:alpha val="60000"/>
              </a:srgbClr>
            </a:solidFill>
            <a:prstDash val="solid"/>
          </a:ln>
        </p:spPr>
      </p:sp>
      <p:sp>
        <p:nvSpPr>
          <p:cNvPr id="18" name="schema edge 0-3-5"/>
          <p:cNvSpPr/>
          <p:nvPr/>
        </p:nvSpPr>
        <p:spPr>
          <a:xfrm flipV="1">
            <a:off x="6096762" y="1650492"/>
            <a:ext cx="150876" cy="427482"/>
          </a:xfrm>
          <a:prstGeom prst="line">
            <a:avLst/>
          </a:prstGeom>
          <a:noFill/>
          <a:ln w="12700">
            <a:solidFill>
              <a:srgbClr val="9A96BC">
                <a:alpha val="60000"/>
              </a:srgbClr>
            </a:solidFill>
            <a:prstDash val="solid"/>
          </a:ln>
        </p:spPr>
      </p:sp>
      <p:sp>
        <p:nvSpPr>
          <p:cNvPr id="19" name="schema edge 0-4-5"/>
          <p:cNvSpPr/>
          <p:nvPr/>
        </p:nvSpPr>
        <p:spPr>
          <a:xfrm flipV="1">
            <a:off x="6222492" y="1650492"/>
            <a:ext cx="25146" cy="276606"/>
          </a:xfrm>
          <a:prstGeom prst="line">
            <a:avLst/>
          </a:prstGeom>
          <a:noFill/>
          <a:ln w="12700">
            <a:solidFill>
              <a:srgbClr val="9A96BC">
                <a:alpha val="60000"/>
              </a:srgbClr>
            </a:solidFill>
            <a:prstDash val="solid"/>
          </a:ln>
        </p:spPr>
      </p:sp>
      <p:sp>
        <p:nvSpPr>
          <p:cNvPr id="20" name="schema edge 1-0-1"/>
          <p:cNvSpPr/>
          <p:nvPr/>
        </p:nvSpPr>
        <p:spPr>
          <a:xfrm flipV="1">
            <a:off x="7002018" y="1725930"/>
            <a:ext cx="301752" cy="75438"/>
          </a:xfrm>
          <a:prstGeom prst="line">
            <a:avLst/>
          </a:prstGeom>
          <a:noFill/>
          <a:ln w="12700">
            <a:solidFill>
              <a:srgbClr val="9A96BC">
                <a:alpha val="60000"/>
              </a:srgbClr>
            </a:solidFill>
            <a:prstDash val="solid"/>
          </a:ln>
        </p:spPr>
      </p:sp>
      <p:sp>
        <p:nvSpPr>
          <p:cNvPr id="21" name="schema edge 1-0-2"/>
          <p:cNvSpPr/>
          <p:nvPr/>
        </p:nvSpPr>
        <p:spPr>
          <a:xfrm>
            <a:off x="7002018" y="1801368"/>
            <a:ext cx="276606" cy="201168"/>
          </a:xfrm>
          <a:prstGeom prst="line">
            <a:avLst/>
          </a:prstGeom>
          <a:noFill/>
          <a:ln w="12700">
            <a:solidFill>
              <a:srgbClr val="9A96BC">
                <a:alpha val="60000"/>
              </a:srgbClr>
            </a:solidFill>
            <a:prstDash val="solid"/>
          </a:ln>
        </p:spPr>
      </p:sp>
      <p:sp>
        <p:nvSpPr>
          <p:cNvPr id="22" name="schema edge 1-0-4"/>
          <p:cNvSpPr/>
          <p:nvPr/>
        </p:nvSpPr>
        <p:spPr>
          <a:xfrm>
            <a:off x="7002018" y="1801368"/>
            <a:ext cx="160934" cy="50292"/>
          </a:xfrm>
          <a:prstGeom prst="line">
            <a:avLst/>
          </a:prstGeom>
          <a:noFill/>
          <a:ln w="12700">
            <a:solidFill>
              <a:srgbClr val="9A96BC">
                <a:alpha val="60000"/>
              </a:srgbClr>
            </a:solidFill>
            <a:prstDash val="solid"/>
          </a:ln>
        </p:spPr>
      </p:sp>
      <p:sp>
        <p:nvSpPr>
          <p:cNvPr id="23" name="schema edge 1-0-5"/>
          <p:cNvSpPr/>
          <p:nvPr/>
        </p:nvSpPr>
        <p:spPr>
          <a:xfrm>
            <a:off x="7002018" y="1801368"/>
            <a:ext cx="326898" cy="75438"/>
          </a:xfrm>
          <a:prstGeom prst="line">
            <a:avLst/>
          </a:prstGeom>
          <a:noFill/>
          <a:ln w="12700">
            <a:solidFill>
              <a:srgbClr val="9A96BC">
                <a:alpha val="60000"/>
              </a:srgbClr>
            </a:solidFill>
            <a:prstDash val="solid"/>
          </a:ln>
        </p:spPr>
      </p:sp>
      <p:sp>
        <p:nvSpPr>
          <p:cNvPr id="24" name="schema edge 1-1-2"/>
          <p:cNvSpPr/>
          <p:nvPr/>
        </p:nvSpPr>
        <p:spPr>
          <a:xfrm flipV="1">
            <a:off x="7278624" y="1725930"/>
            <a:ext cx="25146" cy="276606"/>
          </a:xfrm>
          <a:prstGeom prst="line">
            <a:avLst/>
          </a:prstGeom>
          <a:noFill/>
          <a:ln w="12700">
            <a:solidFill>
              <a:srgbClr val="9A96BC">
                <a:alpha val="60000"/>
              </a:srgbClr>
            </a:solidFill>
            <a:prstDash val="solid"/>
          </a:ln>
        </p:spPr>
      </p:sp>
      <p:sp>
        <p:nvSpPr>
          <p:cNvPr id="25" name="schema edge 1-1-3"/>
          <p:cNvSpPr/>
          <p:nvPr/>
        </p:nvSpPr>
        <p:spPr>
          <a:xfrm flipV="1">
            <a:off x="7052310" y="1725930"/>
            <a:ext cx="251460" cy="276606"/>
          </a:xfrm>
          <a:prstGeom prst="line">
            <a:avLst/>
          </a:prstGeom>
          <a:noFill/>
          <a:ln w="12700">
            <a:solidFill>
              <a:srgbClr val="9A96BC">
                <a:alpha val="60000"/>
              </a:srgbClr>
            </a:solidFill>
            <a:prstDash val="solid"/>
          </a:ln>
        </p:spPr>
      </p:sp>
      <p:sp>
        <p:nvSpPr>
          <p:cNvPr id="26" name="schema edge 1-1-4"/>
          <p:cNvSpPr/>
          <p:nvPr/>
        </p:nvSpPr>
        <p:spPr>
          <a:xfrm flipV="1">
            <a:off x="7162952" y="1725930"/>
            <a:ext cx="140818" cy="125730"/>
          </a:xfrm>
          <a:prstGeom prst="line">
            <a:avLst/>
          </a:prstGeom>
          <a:noFill/>
          <a:ln w="12700">
            <a:solidFill>
              <a:srgbClr val="9A96BC">
                <a:alpha val="60000"/>
              </a:srgbClr>
            </a:solidFill>
            <a:prstDash val="solid"/>
          </a:ln>
        </p:spPr>
      </p:sp>
      <p:sp>
        <p:nvSpPr>
          <p:cNvPr id="27" name="schema edge 1-2-3"/>
          <p:cNvSpPr/>
          <p:nvPr/>
        </p:nvSpPr>
        <p:spPr>
          <a:xfrm>
            <a:off x="7052310" y="2002536"/>
            <a:ext cx="226314" cy="0"/>
          </a:xfrm>
          <a:prstGeom prst="line">
            <a:avLst/>
          </a:prstGeom>
          <a:noFill/>
          <a:ln w="12700">
            <a:solidFill>
              <a:srgbClr val="9A96BC">
                <a:alpha val="60000"/>
              </a:srgbClr>
            </a:solidFill>
            <a:prstDash val="solid"/>
          </a:ln>
        </p:spPr>
      </p:sp>
      <p:sp>
        <p:nvSpPr>
          <p:cNvPr id="28" name="schema edge 1-2-5"/>
          <p:cNvSpPr/>
          <p:nvPr/>
        </p:nvSpPr>
        <p:spPr>
          <a:xfrm flipV="1">
            <a:off x="7278624" y="1876806"/>
            <a:ext cx="50292" cy="125730"/>
          </a:xfrm>
          <a:prstGeom prst="line">
            <a:avLst/>
          </a:prstGeom>
          <a:noFill/>
          <a:ln w="12700">
            <a:solidFill>
              <a:srgbClr val="9A96BC">
                <a:alpha val="60000"/>
              </a:srgbClr>
            </a:solidFill>
            <a:prstDash val="solid"/>
          </a:ln>
        </p:spPr>
      </p:sp>
      <p:sp>
        <p:nvSpPr>
          <p:cNvPr id="29" name="schema edge 1-3-4"/>
          <p:cNvSpPr/>
          <p:nvPr/>
        </p:nvSpPr>
        <p:spPr>
          <a:xfrm flipV="1">
            <a:off x="7052310" y="1851660"/>
            <a:ext cx="110642" cy="150876"/>
          </a:xfrm>
          <a:prstGeom prst="line">
            <a:avLst/>
          </a:prstGeom>
          <a:noFill/>
          <a:ln w="12700">
            <a:solidFill>
              <a:srgbClr val="9A96BC">
                <a:alpha val="60000"/>
              </a:srgbClr>
            </a:solidFill>
            <a:prstDash val="solid"/>
          </a:ln>
        </p:spPr>
      </p:sp>
      <p:sp>
        <p:nvSpPr>
          <p:cNvPr id="30" name="schema edge 1-3-5"/>
          <p:cNvSpPr/>
          <p:nvPr/>
        </p:nvSpPr>
        <p:spPr>
          <a:xfrm flipV="1">
            <a:off x="7052310" y="1876806"/>
            <a:ext cx="276606" cy="125730"/>
          </a:xfrm>
          <a:prstGeom prst="line">
            <a:avLst/>
          </a:prstGeom>
          <a:noFill/>
          <a:ln w="12700">
            <a:solidFill>
              <a:srgbClr val="9A96BC">
                <a:alpha val="60000"/>
              </a:srgbClr>
            </a:solidFill>
            <a:prstDash val="solid"/>
          </a:ln>
        </p:spPr>
      </p:sp>
      <p:sp>
        <p:nvSpPr>
          <p:cNvPr id="31" name="schema edge 1-4-5"/>
          <p:cNvSpPr/>
          <p:nvPr/>
        </p:nvSpPr>
        <p:spPr>
          <a:xfrm>
            <a:off x="7162952" y="1851660"/>
            <a:ext cx="165964" cy="25146"/>
          </a:xfrm>
          <a:prstGeom prst="line">
            <a:avLst/>
          </a:prstGeom>
          <a:noFill/>
          <a:ln w="12700">
            <a:solidFill>
              <a:srgbClr val="9A96BC">
                <a:alpha val="60000"/>
              </a:srgbClr>
            </a:solidFill>
            <a:prstDash val="solid"/>
          </a:ln>
        </p:spPr>
      </p:sp>
      <p:sp>
        <p:nvSpPr>
          <p:cNvPr id="32" name="schema edge 2-0-1"/>
          <p:cNvSpPr/>
          <p:nvPr/>
        </p:nvSpPr>
        <p:spPr>
          <a:xfrm>
            <a:off x="6574536" y="2480310"/>
            <a:ext cx="301752" cy="0"/>
          </a:xfrm>
          <a:prstGeom prst="line">
            <a:avLst/>
          </a:prstGeom>
          <a:noFill/>
          <a:ln w="12700">
            <a:solidFill>
              <a:srgbClr val="9A96BC">
                <a:alpha val="60000"/>
              </a:srgbClr>
            </a:solidFill>
            <a:prstDash val="solid"/>
          </a:ln>
        </p:spPr>
      </p:sp>
      <p:sp>
        <p:nvSpPr>
          <p:cNvPr id="33" name="schema edge 2-0-2"/>
          <p:cNvSpPr/>
          <p:nvPr/>
        </p:nvSpPr>
        <p:spPr>
          <a:xfrm>
            <a:off x="6574536" y="2480310"/>
            <a:ext cx="301752" cy="226314"/>
          </a:xfrm>
          <a:prstGeom prst="line">
            <a:avLst/>
          </a:prstGeom>
          <a:noFill/>
          <a:ln w="12700">
            <a:solidFill>
              <a:srgbClr val="9A96BC">
                <a:alpha val="60000"/>
              </a:srgbClr>
            </a:solidFill>
            <a:prstDash val="solid"/>
          </a:ln>
        </p:spPr>
      </p:sp>
      <p:sp>
        <p:nvSpPr>
          <p:cNvPr id="34" name="schema edge 2-0-4"/>
          <p:cNvSpPr/>
          <p:nvPr/>
        </p:nvSpPr>
        <p:spPr>
          <a:xfrm>
            <a:off x="6574536" y="2480310"/>
            <a:ext cx="150876" cy="100584"/>
          </a:xfrm>
          <a:prstGeom prst="line">
            <a:avLst/>
          </a:prstGeom>
          <a:noFill/>
          <a:ln w="12700">
            <a:solidFill>
              <a:srgbClr val="9A96BC">
                <a:alpha val="60000"/>
              </a:srgbClr>
            </a:solidFill>
            <a:prstDash val="solid"/>
          </a:ln>
        </p:spPr>
      </p:sp>
      <p:sp>
        <p:nvSpPr>
          <p:cNvPr id="35" name="schema edge 2-0-5"/>
          <p:cNvSpPr/>
          <p:nvPr/>
        </p:nvSpPr>
        <p:spPr>
          <a:xfrm>
            <a:off x="6574536" y="2480310"/>
            <a:ext cx="125730" cy="326898"/>
          </a:xfrm>
          <a:prstGeom prst="line">
            <a:avLst/>
          </a:prstGeom>
          <a:noFill/>
          <a:ln w="12700">
            <a:solidFill>
              <a:srgbClr val="9A96BC">
                <a:alpha val="60000"/>
              </a:srgbClr>
            </a:solidFill>
            <a:prstDash val="solid"/>
          </a:ln>
        </p:spPr>
      </p:sp>
      <p:sp>
        <p:nvSpPr>
          <p:cNvPr id="36" name="schema edge 2-1-2"/>
          <p:cNvSpPr/>
          <p:nvPr/>
        </p:nvSpPr>
        <p:spPr>
          <a:xfrm>
            <a:off x="6876288" y="2480310"/>
            <a:ext cx="0" cy="226314"/>
          </a:xfrm>
          <a:prstGeom prst="line">
            <a:avLst/>
          </a:prstGeom>
          <a:noFill/>
          <a:ln w="12700">
            <a:solidFill>
              <a:srgbClr val="9A96BC">
                <a:alpha val="60000"/>
              </a:srgbClr>
            </a:solidFill>
            <a:prstDash val="solid"/>
          </a:ln>
        </p:spPr>
      </p:sp>
      <p:sp>
        <p:nvSpPr>
          <p:cNvPr id="37" name="schema edge 2-1-3"/>
          <p:cNvSpPr/>
          <p:nvPr/>
        </p:nvSpPr>
        <p:spPr>
          <a:xfrm flipV="1">
            <a:off x="6574536" y="2480310"/>
            <a:ext cx="301752" cy="226314"/>
          </a:xfrm>
          <a:prstGeom prst="line">
            <a:avLst/>
          </a:prstGeom>
          <a:noFill/>
          <a:ln w="12700">
            <a:solidFill>
              <a:srgbClr val="9A96BC">
                <a:alpha val="60000"/>
              </a:srgbClr>
            </a:solidFill>
            <a:prstDash val="solid"/>
          </a:ln>
        </p:spPr>
      </p:sp>
      <p:sp>
        <p:nvSpPr>
          <p:cNvPr id="38" name="schema edge 2-1-4"/>
          <p:cNvSpPr/>
          <p:nvPr/>
        </p:nvSpPr>
        <p:spPr>
          <a:xfrm flipV="1">
            <a:off x="6725412" y="2480310"/>
            <a:ext cx="150876" cy="100584"/>
          </a:xfrm>
          <a:prstGeom prst="line">
            <a:avLst/>
          </a:prstGeom>
          <a:noFill/>
          <a:ln w="12700">
            <a:solidFill>
              <a:srgbClr val="9A96BC">
                <a:alpha val="60000"/>
              </a:srgbClr>
            </a:solidFill>
            <a:prstDash val="solid"/>
          </a:ln>
        </p:spPr>
      </p:sp>
      <p:sp>
        <p:nvSpPr>
          <p:cNvPr id="39" name="schema edge 2-2-3"/>
          <p:cNvSpPr/>
          <p:nvPr/>
        </p:nvSpPr>
        <p:spPr>
          <a:xfrm>
            <a:off x="6574536" y="2706624"/>
            <a:ext cx="301752" cy="0"/>
          </a:xfrm>
          <a:prstGeom prst="line">
            <a:avLst/>
          </a:prstGeom>
          <a:noFill/>
          <a:ln w="12700">
            <a:solidFill>
              <a:srgbClr val="9A96BC">
                <a:alpha val="60000"/>
              </a:srgbClr>
            </a:solidFill>
            <a:prstDash val="solid"/>
          </a:ln>
        </p:spPr>
      </p:sp>
      <p:sp>
        <p:nvSpPr>
          <p:cNvPr id="40" name="schema edge 2-2-5"/>
          <p:cNvSpPr/>
          <p:nvPr/>
        </p:nvSpPr>
        <p:spPr>
          <a:xfrm flipV="1">
            <a:off x="6700266" y="2706624"/>
            <a:ext cx="176022" cy="100584"/>
          </a:xfrm>
          <a:prstGeom prst="line">
            <a:avLst/>
          </a:prstGeom>
          <a:noFill/>
          <a:ln w="12700">
            <a:solidFill>
              <a:srgbClr val="9A96BC">
                <a:alpha val="60000"/>
              </a:srgbClr>
            </a:solidFill>
            <a:prstDash val="solid"/>
          </a:ln>
        </p:spPr>
      </p:sp>
      <p:sp>
        <p:nvSpPr>
          <p:cNvPr id="41" name="schema edge 2-3-4"/>
          <p:cNvSpPr/>
          <p:nvPr/>
        </p:nvSpPr>
        <p:spPr>
          <a:xfrm flipV="1">
            <a:off x="6574536" y="2580894"/>
            <a:ext cx="150876" cy="125730"/>
          </a:xfrm>
          <a:prstGeom prst="line">
            <a:avLst/>
          </a:prstGeom>
          <a:noFill/>
          <a:ln w="12700">
            <a:solidFill>
              <a:srgbClr val="9A96BC">
                <a:alpha val="60000"/>
              </a:srgbClr>
            </a:solidFill>
            <a:prstDash val="solid"/>
          </a:ln>
        </p:spPr>
      </p:sp>
      <p:sp>
        <p:nvSpPr>
          <p:cNvPr id="42" name="schema edge 2-3-5"/>
          <p:cNvSpPr/>
          <p:nvPr/>
        </p:nvSpPr>
        <p:spPr>
          <a:xfrm>
            <a:off x="6574536" y="2706624"/>
            <a:ext cx="125730" cy="100584"/>
          </a:xfrm>
          <a:prstGeom prst="line">
            <a:avLst/>
          </a:prstGeom>
          <a:noFill/>
          <a:ln w="12700">
            <a:solidFill>
              <a:srgbClr val="9A96BC">
                <a:alpha val="60000"/>
              </a:srgbClr>
            </a:solidFill>
            <a:prstDash val="solid"/>
          </a:ln>
        </p:spPr>
      </p:sp>
      <p:sp>
        <p:nvSpPr>
          <p:cNvPr id="43" name="schema edge 2-4-5"/>
          <p:cNvSpPr/>
          <p:nvPr/>
        </p:nvSpPr>
        <p:spPr>
          <a:xfrm flipV="1">
            <a:off x="6700266" y="2580894"/>
            <a:ext cx="25146" cy="226314"/>
          </a:xfrm>
          <a:prstGeom prst="line">
            <a:avLst/>
          </a:prstGeom>
          <a:noFill/>
          <a:ln w="12700">
            <a:solidFill>
              <a:srgbClr val="9A96BC">
                <a:alpha val="60000"/>
              </a:srgbClr>
            </a:solidFill>
            <a:prstDash val="solid"/>
          </a:ln>
        </p:spPr>
      </p:sp>
      <p:sp>
        <p:nvSpPr>
          <p:cNvPr id="44" name="schema bridge 0"/>
          <p:cNvSpPr/>
          <p:nvPr/>
        </p:nvSpPr>
        <p:spPr>
          <a:xfrm flipV="1">
            <a:off x="6222492" y="1851660"/>
            <a:ext cx="940460" cy="75438"/>
          </a:xfrm>
          <a:prstGeom prst="line">
            <a:avLst/>
          </a:prstGeom>
          <a:noFill/>
          <a:ln w="9525">
            <a:solidFill>
              <a:srgbClr val="9A96BC">
                <a:alpha val="45000"/>
              </a:srgbClr>
            </a:solidFill>
            <a:prstDash val="solid"/>
          </a:ln>
        </p:spPr>
      </p:sp>
      <p:sp>
        <p:nvSpPr>
          <p:cNvPr id="45" name="schema bridge 1"/>
          <p:cNvSpPr/>
          <p:nvPr/>
        </p:nvSpPr>
        <p:spPr>
          <a:xfrm flipV="1">
            <a:off x="6574536" y="2002536"/>
            <a:ext cx="477774" cy="477774"/>
          </a:xfrm>
          <a:prstGeom prst="line">
            <a:avLst/>
          </a:prstGeom>
          <a:noFill/>
          <a:ln w="9525">
            <a:solidFill>
              <a:srgbClr val="9A96BC">
                <a:alpha val="45000"/>
              </a:srgbClr>
            </a:solidFill>
            <a:prstDash val="solid"/>
          </a:ln>
        </p:spPr>
      </p:sp>
      <p:sp>
        <p:nvSpPr>
          <p:cNvPr id="46" name="schema bridge 2"/>
          <p:cNvSpPr/>
          <p:nvPr/>
        </p:nvSpPr>
        <p:spPr>
          <a:xfrm>
            <a:off x="6373368" y="2027682"/>
            <a:ext cx="502920" cy="452628"/>
          </a:xfrm>
          <a:prstGeom prst="line">
            <a:avLst/>
          </a:prstGeom>
          <a:noFill/>
          <a:ln w="9525">
            <a:solidFill>
              <a:srgbClr val="9A96BC">
                <a:alpha val="45000"/>
              </a:srgbClr>
            </a:solidFill>
            <a:prstDash val="solid"/>
          </a:ln>
        </p:spPr>
      </p:sp>
      <p:sp>
        <p:nvSpPr>
          <p:cNvPr id="47" name="schema node 0-0"/>
          <p:cNvSpPr/>
          <p:nvPr/>
        </p:nvSpPr>
        <p:spPr>
          <a:xfrm>
            <a:off x="6007608" y="1762506"/>
            <a:ext cx="128016" cy="128016"/>
          </a:xfrm>
          <a:prstGeom prst="ellipse">
            <a:avLst/>
          </a:prstGeom>
          <a:solidFill>
            <a:srgbClr val="3F6FA0"/>
          </a:solidFill>
          <a:ln w="12700">
            <a:solidFill>
              <a:srgbClr val="F4F3FA"/>
            </a:solidFill>
            <a:prstDash val="solid"/>
          </a:ln>
        </p:spPr>
      </p:sp>
      <p:sp>
        <p:nvSpPr>
          <p:cNvPr id="48" name="schema node 0-1"/>
          <p:cNvSpPr/>
          <p:nvPr/>
        </p:nvSpPr>
        <p:spPr>
          <a:xfrm>
            <a:off x="6284214" y="1712214"/>
            <a:ext cx="128016" cy="128016"/>
          </a:xfrm>
          <a:prstGeom prst="ellipse">
            <a:avLst/>
          </a:prstGeom>
          <a:solidFill>
            <a:srgbClr val="3F6FA0"/>
          </a:solidFill>
          <a:ln w="12700">
            <a:solidFill>
              <a:srgbClr val="F4F3FA"/>
            </a:solidFill>
            <a:prstDash val="solid"/>
          </a:ln>
        </p:spPr>
      </p:sp>
      <p:sp>
        <p:nvSpPr>
          <p:cNvPr id="49" name="schema node 0-2"/>
          <p:cNvSpPr/>
          <p:nvPr/>
        </p:nvSpPr>
        <p:spPr>
          <a:xfrm>
            <a:off x="6309360" y="1963674"/>
            <a:ext cx="128016" cy="128016"/>
          </a:xfrm>
          <a:prstGeom prst="ellipse">
            <a:avLst/>
          </a:prstGeom>
          <a:solidFill>
            <a:srgbClr val="3F6FA0"/>
          </a:solidFill>
          <a:ln w="12700">
            <a:solidFill>
              <a:srgbClr val="F4F3FA"/>
            </a:solidFill>
            <a:prstDash val="solid"/>
          </a:ln>
        </p:spPr>
      </p:sp>
      <p:sp>
        <p:nvSpPr>
          <p:cNvPr id="50" name="schema node 0-3"/>
          <p:cNvSpPr/>
          <p:nvPr/>
        </p:nvSpPr>
        <p:spPr>
          <a:xfrm>
            <a:off x="6032754" y="2013966"/>
            <a:ext cx="128016" cy="128016"/>
          </a:xfrm>
          <a:prstGeom prst="ellipse">
            <a:avLst/>
          </a:prstGeom>
          <a:solidFill>
            <a:srgbClr val="3F6FA0"/>
          </a:solidFill>
          <a:ln w="12700">
            <a:solidFill>
              <a:srgbClr val="F4F3FA"/>
            </a:solidFill>
            <a:prstDash val="solid"/>
          </a:ln>
        </p:spPr>
      </p:sp>
      <p:sp>
        <p:nvSpPr>
          <p:cNvPr id="51" name="schema node 0-4"/>
          <p:cNvSpPr/>
          <p:nvPr/>
        </p:nvSpPr>
        <p:spPr>
          <a:xfrm>
            <a:off x="6158484" y="1863090"/>
            <a:ext cx="128016" cy="128016"/>
          </a:xfrm>
          <a:prstGeom prst="ellipse">
            <a:avLst/>
          </a:prstGeom>
          <a:solidFill>
            <a:srgbClr val="3F6FA0"/>
          </a:solidFill>
          <a:ln w="12700">
            <a:solidFill>
              <a:srgbClr val="F4F3FA"/>
            </a:solidFill>
            <a:prstDash val="solid"/>
          </a:ln>
        </p:spPr>
      </p:sp>
      <p:sp>
        <p:nvSpPr>
          <p:cNvPr id="52" name="schema node 0-5"/>
          <p:cNvSpPr/>
          <p:nvPr/>
        </p:nvSpPr>
        <p:spPr>
          <a:xfrm>
            <a:off x="6183630" y="1586484"/>
            <a:ext cx="128016" cy="128016"/>
          </a:xfrm>
          <a:prstGeom prst="ellipse">
            <a:avLst/>
          </a:prstGeom>
          <a:solidFill>
            <a:srgbClr val="3F6FA0"/>
          </a:solidFill>
          <a:ln w="12700">
            <a:solidFill>
              <a:srgbClr val="F4F3FA"/>
            </a:solidFill>
            <a:prstDash val="solid"/>
          </a:ln>
        </p:spPr>
      </p:sp>
      <p:sp>
        <p:nvSpPr>
          <p:cNvPr id="53" name="schema node 1-0"/>
          <p:cNvSpPr/>
          <p:nvPr/>
        </p:nvSpPr>
        <p:spPr>
          <a:xfrm>
            <a:off x="6938010" y="1737360"/>
            <a:ext cx="128016" cy="128016"/>
          </a:xfrm>
          <a:prstGeom prst="ellipse">
            <a:avLst/>
          </a:prstGeom>
          <a:solidFill>
            <a:srgbClr val="D9730D"/>
          </a:solidFill>
          <a:ln w="12700">
            <a:solidFill>
              <a:srgbClr val="F4F3FA"/>
            </a:solidFill>
            <a:prstDash val="solid"/>
          </a:ln>
        </p:spPr>
      </p:sp>
      <p:sp>
        <p:nvSpPr>
          <p:cNvPr id="54" name="schema node 1-1"/>
          <p:cNvSpPr/>
          <p:nvPr/>
        </p:nvSpPr>
        <p:spPr>
          <a:xfrm>
            <a:off x="7239762" y="1661922"/>
            <a:ext cx="128016" cy="128016"/>
          </a:xfrm>
          <a:prstGeom prst="ellipse">
            <a:avLst/>
          </a:prstGeom>
          <a:solidFill>
            <a:srgbClr val="D9730D"/>
          </a:solidFill>
          <a:ln w="12700">
            <a:solidFill>
              <a:srgbClr val="F4F3FA"/>
            </a:solidFill>
            <a:prstDash val="solid"/>
          </a:ln>
        </p:spPr>
      </p:sp>
      <p:sp>
        <p:nvSpPr>
          <p:cNvPr id="55" name="schema node 1-2"/>
          <p:cNvSpPr/>
          <p:nvPr/>
        </p:nvSpPr>
        <p:spPr>
          <a:xfrm>
            <a:off x="7214616" y="1938528"/>
            <a:ext cx="128016" cy="128016"/>
          </a:xfrm>
          <a:prstGeom prst="ellipse">
            <a:avLst/>
          </a:prstGeom>
          <a:solidFill>
            <a:srgbClr val="D9730D"/>
          </a:solidFill>
          <a:ln w="12700">
            <a:solidFill>
              <a:srgbClr val="F4F3FA"/>
            </a:solidFill>
            <a:prstDash val="solid"/>
          </a:ln>
        </p:spPr>
      </p:sp>
      <p:sp>
        <p:nvSpPr>
          <p:cNvPr id="56" name="schema node 1-3"/>
          <p:cNvSpPr/>
          <p:nvPr/>
        </p:nvSpPr>
        <p:spPr>
          <a:xfrm>
            <a:off x="6988302" y="1938528"/>
            <a:ext cx="128016" cy="128016"/>
          </a:xfrm>
          <a:prstGeom prst="ellipse">
            <a:avLst/>
          </a:prstGeom>
          <a:solidFill>
            <a:srgbClr val="D9730D"/>
          </a:solidFill>
          <a:ln w="12700">
            <a:solidFill>
              <a:srgbClr val="F4F3FA"/>
            </a:solidFill>
            <a:prstDash val="solid"/>
          </a:ln>
        </p:spPr>
      </p:sp>
      <p:sp>
        <p:nvSpPr>
          <p:cNvPr id="57" name="schema node 1-4"/>
          <p:cNvSpPr/>
          <p:nvPr/>
        </p:nvSpPr>
        <p:spPr>
          <a:xfrm>
            <a:off x="7098944" y="1787652"/>
            <a:ext cx="128016" cy="128016"/>
          </a:xfrm>
          <a:prstGeom prst="ellipse">
            <a:avLst/>
          </a:prstGeom>
          <a:solidFill>
            <a:srgbClr val="D9730D"/>
          </a:solidFill>
          <a:ln w="12700">
            <a:solidFill>
              <a:srgbClr val="F4F3FA"/>
            </a:solidFill>
            <a:prstDash val="solid"/>
          </a:ln>
        </p:spPr>
      </p:sp>
      <p:sp>
        <p:nvSpPr>
          <p:cNvPr id="58" name="schema node 1-5"/>
          <p:cNvSpPr/>
          <p:nvPr/>
        </p:nvSpPr>
        <p:spPr>
          <a:xfrm>
            <a:off x="7264908" y="1812798"/>
            <a:ext cx="128016" cy="128016"/>
          </a:xfrm>
          <a:prstGeom prst="ellipse">
            <a:avLst/>
          </a:prstGeom>
          <a:solidFill>
            <a:srgbClr val="D9730D"/>
          </a:solidFill>
          <a:ln w="12700">
            <a:solidFill>
              <a:srgbClr val="F4F3FA"/>
            </a:solidFill>
            <a:prstDash val="solid"/>
          </a:ln>
        </p:spPr>
      </p:sp>
      <p:sp>
        <p:nvSpPr>
          <p:cNvPr id="59" name="schema node 2-0"/>
          <p:cNvSpPr/>
          <p:nvPr/>
        </p:nvSpPr>
        <p:spPr>
          <a:xfrm>
            <a:off x="6510528" y="2416302"/>
            <a:ext cx="128016" cy="128016"/>
          </a:xfrm>
          <a:prstGeom prst="ellipse">
            <a:avLst/>
          </a:prstGeom>
          <a:solidFill>
            <a:srgbClr val="3E8E41"/>
          </a:solidFill>
          <a:ln w="12700">
            <a:solidFill>
              <a:srgbClr val="F4F3FA"/>
            </a:solidFill>
            <a:prstDash val="solid"/>
          </a:ln>
        </p:spPr>
      </p:sp>
      <p:sp>
        <p:nvSpPr>
          <p:cNvPr id="60" name="schema node 2-1"/>
          <p:cNvSpPr/>
          <p:nvPr/>
        </p:nvSpPr>
        <p:spPr>
          <a:xfrm>
            <a:off x="6812280" y="2416302"/>
            <a:ext cx="128016" cy="128016"/>
          </a:xfrm>
          <a:prstGeom prst="ellipse">
            <a:avLst/>
          </a:prstGeom>
          <a:solidFill>
            <a:srgbClr val="3E8E41"/>
          </a:solidFill>
          <a:ln w="12700">
            <a:solidFill>
              <a:srgbClr val="F4F3FA"/>
            </a:solidFill>
            <a:prstDash val="solid"/>
          </a:ln>
        </p:spPr>
      </p:sp>
      <p:sp>
        <p:nvSpPr>
          <p:cNvPr id="61" name="schema node 2-2"/>
          <p:cNvSpPr/>
          <p:nvPr/>
        </p:nvSpPr>
        <p:spPr>
          <a:xfrm>
            <a:off x="6812280" y="2642616"/>
            <a:ext cx="128016" cy="128016"/>
          </a:xfrm>
          <a:prstGeom prst="ellipse">
            <a:avLst/>
          </a:prstGeom>
          <a:solidFill>
            <a:srgbClr val="3E8E41"/>
          </a:solidFill>
          <a:ln w="12700">
            <a:solidFill>
              <a:srgbClr val="F4F3FA"/>
            </a:solidFill>
            <a:prstDash val="solid"/>
          </a:ln>
        </p:spPr>
      </p:sp>
      <p:sp>
        <p:nvSpPr>
          <p:cNvPr id="62" name="schema node 2-3"/>
          <p:cNvSpPr/>
          <p:nvPr/>
        </p:nvSpPr>
        <p:spPr>
          <a:xfrm>
            <a:off x="6510528" y="2642616"/>
            <a:ext cx="128016" cy="128016"/>
          </a:xfrm>
          <a:prstGeom prst="ellipse">
            <a:avLst/>
          </a:prstGeom>
          <a:solidFill>
            <a:srgbClr val="3E8E41"/>
          </a:solidFill>
          <a:ln w="12700">
            <a:solidFill>
              <a:srgbClr val="F4F3FA"/>
            </a:solidFill>
            <a:prstDash val="solid"/>
          </a:ln>
        </p:spPr>
      </p:sp>
      <p:sp>
        <p:nvSpPr>
          <p:cNvPr id="63" name="schema node 2-4"/>
          <p:cNvSpPr/>
          <p:nvPr/>
        </p:nvSpPr>
        <p:spPr>
          <a:xfrm>
            <a:off x="6661404" y="2516886"/>
            <a:ext cx="128016" cy="128016"/>
          </a:xfrm>
          <a:prstGeom prst="ellipse">
            <a:avLst/>
          </a:prstGeom>
          <a:solidFill>
            <a:srgbClr val="3E8E41"/>
          </a:solidFill>
          <a:ln w="12700">
            <a:solidFill>
              <a:srgbClr val="F4F3FA"/>
            </a:solidFill>
            <a:prstDash val="solid"/>
          </a:ln>
        </p:spPr>
      </p:sp>
      <p:sp>
        <p:nvSpPr>
          <p:cNvPr id="64" name="schema node 2-5"/>
          <p:cNvSpPr/>
          <p:nvPr/>
        </p:nvSpPr>
        <p:spPr>
          <a:xfrm>
            <a:off x="6636258" y="2743200"/>
            <a:ext cx="128016" cy="128016"/>
          </a:xfrm>
          <a:prstGeom prst="ellipse">
            <a:avLst/>
          </a:prstGeom>
          <a:solidFill>
            <a:srgbClr val="3E8E41"/>
          </a:solidFill>
          <a:ln w="12700">
            <a:solidFill>
              <a:srgbClr val="F4F3FA"/>
            </a:solidFill>
            <a:prstDash val="solid"/>
          </a:ln>
        </p:spPr>
      </p:sp>
      <p:sp>
        <p:nvSpPr>
          <p:cNvPr id="65" name="Modularity card"/>
          <p:cNvSpPr/>
          <p:nvPr/>
        </p:nvSpPr>
        <p:spPr>
          <a:xfrm>
            <a:off x="4663440" y="3108960"/>
            <a:ext cx="4023360" cy="1325880"/>
          </a:xfrm>
          <a:prstGeom prst="roundRect">
            <a:avLst>
              <a:gd name="adj" fmla="val 551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66" name="Text 63"/>
          <p:cNvSpPr txBox="1"/>
          <p:nvPr/>
        </p:nvSpPr>
        <p:spPr>
          <a:xfrm>
            <a:off x="4846320" y="3200400"/>
            <a:ext cx="3657600" cy="274320"/>
          </a:xfrm>
          <a:prstGeom prst="rect">
            <a:avLst/>
          </a:prstGeom>
          <a:noFill/>
          <a:ln/>
        </p:spPr>
        <p:txBody>
          <a:bodyPr wrap="square" lIns="0" tIns="0" rIns="0" bIns="0" rtlCol="0" anchor="ctr"/>
          <a:lstStyle/>
          <a:p>
            <a:pPr marL="0" indent="0">
              <a:buNone/>
            </a:pPr>
            <a:r>
              <a:rPr lang="en-US" sz="1600" b="1" dirty="0">
                <a:solidFill>
                  <a:srgbClr val="1E1B3A"/>
                </a:solidFill>
                <a:latin typeface="Cambria" pitchFamily="34" charset="0"/>
                <a:ea typeface="Cambria" pitchFamily="34" charset="-122"/>
                <a:cs typeface="Cambria" pitchFamily="34" charset="-120"/>
              </a:rPr>
              <a:t>Modularity (Q)</a:t>
            </a:r>
            <a:endParaRPr lang="en-US" sz="1600" dirty="0"/>
          </a:p>
        </p:txBody>
      </p:sp>
      <p:sp>
        <p:nvSpPr>
          <p:cNvPr id="67" name="Text 64"/>
          <p:cNvSpPr txBox="1"/>
          <p:nvPr/>
        </p:nvSpPr>
        <p:spPr>
          <a:xfrm>
            <a:off x="4846320" y="3493008"/>
            <a:ext cx="3657600" cy="868680"/>
          </a:xfrm>
          <a:prstGeom prst="rect">
            <a:avLst/>
          </a:prstGeom>
          <a:noFill/>
          <a:ln/>
        </p:spPr>
        <p:txBody>
          <a:bodyPr wrap="square" lIns="0" tIns="0" rIns="0" bIns="0" rtlCol="0" anchor="t"/>
          <a:lstStyle/>
          <a:p>
            <a:pPr marL="0" indent="0">
              <a:buNone/>
            </a:pPr>
            <a:r>
              <a:rPr lang="en-US" sz="1300" dirty="0">
                <a:solidFill>
                  <a:srgbClr val="5B5877"/>
                </a:solidFill>
                <a:latin typeface="Calibri" pitchFamily="34" charset="0"/>
                <a:ea typeface="Calibri" pitchFamily="34" charset="-122"/>
                <a:cs typeface="Calibri" pitchFamily="34" charset="-120"/>
              </a:rPr>
              <a:t>Share of edges inside communities minus the share expected by chance for the same degrees. One score for the whole partition, not per community.</a:t>
            </a:r>
            <a:endParaRPr lang="en-US" sz="1300" dirty="0"/>
          </a:p>
        </p:txBody>
      </p:sp>
      <p:sp>
        <p:nvSpPr>
          <p:cNvPr id="3"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Louvain: move nodes, then merge</a:t>
            </a:r>
            <a:endParaRPr lang="en-US" sz="2800" dirty="0"/>
          </a:p>
        </p:txBody>
      </p:sp>
      <p:sp>
        <p:nvSpPr>
          <p:cNvPr id="4" name="Louvain chip"/>
          <p:cNvSpPr/>
          <p:nvPr/>
        </p:nvSpPr>
        <p:spPr>
          <a:xfrm>
            <a:off x="457200" y="1143000"/>
            <a:ext cx="1371600" cy="292608"/>
          </a:xfrm>
          <a:prstGeom prst="roundRect">
            <a:avLst>
              <a:gd name="adj" fmla="val 50000"/>
            </a:avLst>
          </a:prstGeom>
          <a:solidFill>
            <a:srgbClr val="3F6FA0"/>
          </a:solidFill>
          <a:ln w="12700">
            <a:solidFill>
              <a:srgbClr val="3F6FA0"/>
            </a:solidFill>
            <a:prstDash val="solid"/>
          </a:ln>
        </p:spPr>
      </p:sp>
      <p:sp>
        <p:nvSpPr>
          <p:cNvPr id="5" name="Text 2"/>
          <p:cNvSpPr txBox="1"/>
          <p:nvPr/>
        </p:nvSpPr>
        <p:spPr>
          <a:xfrm>
            <a:off x="457200" y="1143000"/>
            <a:ext cx="13716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Louvain</a:t>
            </a:r>
            <a:endParaRPr lang="en-US" sz="1200" dirty="0"/>
          </a:p>
        </p:txBody>
      </p:sp>
      <p:sp>
        <p:nvSpPr>
          <p:cNvPr id="6" name="Louvain step card 1"/>
          <p:cNvSpPr/>
          <p:nvPr/>
        </p:nvSpPr>
        <p:spPr>
          <a:xfrm>
            <a:off x="457200" y="1554480"/>
            <a:ext cx="5029200" cy="835152"/>
          </a:xfrm>
          <a:prstGeom prst="roundRect">
            <a:avLst>
              <a:gd name="adj" fmla="val 8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7" name="Louvain step number 1"/>
          <p:cNvSpPr/>
          <p:nvPr/>
        </p:nvSpPr>
        <p:spPr>
          <a:xfrm>
            <a:off x="594360" y="1766316"/>
            <a:ext cx="411480" cy="411480"/>
          </a:xfrm>
          <a:prstGeom prst="ellipse">
            <a:avLst/>
          </a:prstGeom>
          <a:solidFill>
            <a:srgbClr val="3F6FA0"/>
          </a:solidFill>
          <a:ln w="12700">
            <a:solidFill>
              <a:srgbClr val="3F6FA0"/>
            </a:solidFill>
            <a:prstDash val="solid"/>
          </a:ln>
        </p:spPr>
      </p:sp>
      <p:sp>
        <p:nvSpPr>
          <p:cNvPr id="8" name="Text 5"/>
          <p:cNvSpPr txBox="1"/>
          <p:nvPr/>
        </p:nvSpPr>
        <p:spPr>
          <a:xfrm>
            <a:off x="594360" y="176631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0934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Local moving</a:t>
            </a:r>
            <a:endParaRPr lang="en-US" sz="1400" dirty="0"/>
          </a:p>
        </p:txBody>
      </p:sp>
      <p:sp>
        <p:nvSpPr>
          <p:cNvPr id="10" name="Text 7"/>
          <p:cNvSpPr txBox="1"/>
          <p:nvPr/>
        </p:nvSpPr>
        <p:spPr>
          <a:xfrm>
            <a:off x="1188720" y="1883664"/>
            <a:ext cx="4160520" cy="46939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Each node joins the neighbouring community that raises modularity the most.</a:t>
            </a:r>
            <a:endParaRPr lang="en-US" sz="1200" dirty="0"/>
          </a:p>
        </p:txBody>
      </p:sp>
      <p:sp>
        <p:nvSpPr>
          <p:cNvPr id="11" name="Louvain step card 2"/>
          <p:cNvSpPr/>
          <p:nvPr/>
        </p:nvSpPr>
        <p:spPr>
          <a:xfrm>
            <a:off x="457200" y="2499360"/>
            <a:ext cx="5029200" cy="835152"/>
          </a:xfrm>
          <a:prstGeom prst="roundRect">
            <a:avLst>
              <a:gd name="adj" fmla="val 8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2" name="Louvain step number 2"/>
          <p:cNvSpPr/>
          <p:nvPr/>
        </p:nvSpPr>
        <p:spPr>
          <a:xfrm>
            <a:off x="594360" y="2711196"/>
            <a:ext cx="411480" cy="411480"/>
          </a:xfrm>
          <a:prstGeom prst="ellipse">
            <a:avLst/>
          </a:prstGeom>
          <a:solidFill>
            <a:srgbClr val="3F6FA0"/>
          </a:solidFill>
          <a:ln w="12700">
            <a:solidFill>
              <a:srgbClr val="3F6FA0"/>
            </a:solidFill>
            <a:prstDash val="solid"/>
          </a:ln>
        </p:spPr>
      </p:sp>
      <p:sp>
        <p:nvSpPr>
          <p:cNvPr id="13" name="Text 10"/>
          <p:cNvSpPr txBox="1"/>
          <p:nvPr/>
        </p:nvSpPr>
        <p:spPr>
          <a:xfrm>
            <a:off x="594360" y="27111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188720" y="255422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Aggregate</a:t>
            </a:r>
            <a:endParaRPr lang="en-US" sz="1400" dirty="0"/>
          </a:p>
        </p:txBody>
      </p:sp>
      <p:sp>
        <p:nvSpPr>
          <p:cNvPr id="15" name="Text 12"/>
          <p:cNvSpPr txBox="1"/>
          <p:nvPr/>
        </p:nvSpPr>
        <p:spPr>
          <a:xfrm>
            <a:off x="1188720" y="2828544"/>
            <a:ext cx="4160520" cy="46939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Communities become super-nodes; links between them are summed.</a:t>
            </a:r>
            <a:endParaRPr lang="en-US" sz="1200" dirty="0"/>
          </a:p>
        </p:txBody>
      </p:sp>
      <p:sp>
        <p:nvSpPr>
          <p:cNvPr id="16" name="Louvain step card 3"/>
          <p:cNvSpPr/>
          <p:nvPr/>
        </p:nvSpPr>
        <p:spPr>
          <a:xfrm>
            <a:off x="457200" y="3444240"/>
            <a:ext cx="5029200" cy="835152"/>
          </a:xfrm>
          <a:prstGeom prst="roundRect">
            <a:avLst>
              <a:gd name="adj" fmla="val 8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Louvain step number 3"/>
          <p:cNvSpPr/>
          <p:nvPr/>
        </p:nvSpPr>
        <p:spPr>
          <a:xfrm>
            <a:off x="594360" y="3656076"/>
            <a:ext cx="411480" cy="411480"/>
          </a:xfrm>
          <a:prstGeom prst="ellipse">
            <a:avLst/>
          </a:prstGeom>
          <a:solidFill>
            <a:srgbClr val="3F6FA0"/>
          </a:solidFill>
          <a:ln w="12700">
            <a:solidFill>
              <a:srgbClr val="3F6FA0"/>
            </a:solidFill>
            <a:prstDash val="solid"/>
          </a:ln>
        </p:spPr>
      </p:sp>
      <p:sp>
        <p:nvSpPr>
          <p:cNvPr id="18" name="Text 15"/>
          <p:cNvSpPr txBox="1"/>
          <p:nvPr/>
        </p:nvSpPr>
        <p:spPr>
          <a:xfrm>
            <a:off x="594360" y="365607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188720" y="349910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Repeat</a:t>
            </a:r>
            <a:endParaRPr lang="en-US" sz="1400" dirty="0"/>
          </a:p>
        </p:txBody>
      </p:sp>
      <p:sp>
        <p:nvSpPr>
          <p:cNvPr id="20" name="Text 17"/>
          <p:cNvSpPr txBox="1"/>
          <p:nvPr/>
        </p:nvSpPr>
        <p:spPr>
          <a:xfrm>
            <a:off x="1188720" y="3773424"/>
            <a:ext cx="4160520" cy="46939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Continue on the smaller graph until no move improves modularity.</a:t>
            </a:r>
            <a:endParaRPr lang="en-US" sz="1200" dirty="0"/>
          </a:p>
        </p:txBody>
      </p:sp>
      <p:sp>
        <p:nvSpPr>
          <p:cNvPr id="21" name="Louvain facts card"/>
          <p:cNvSpPr/>
          <p:nvPr/>
        </p:nvSpPr>
        <p:spPr>
          <a:xfrm>
            <a:off x="5715000" y="1554480"/>
            <a:ext cx="2971800" cy="2834640"/>
          </a:xfrm>
          <a:prstGeom prst="roundRect">
            <a:avLst>
              <a:gd name="adj" fmla="val 258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2" name="Text 19"/>
          <p:cNvSpPr txBox="1"/>
          <p:nvPr/>
        </p:nvSpPr>
        <p:spPr>
          <a:xfrm>
            <a:off x="5897880" y="1664208"/>
            <a:ext cx="2651760" cy="274320"/>
          </a:xfrm>
          <a:prstGeom prst="rect">
            <a:avLst/>
          </a:prstGeom>
          <a:noFill/>
          <a:ln/>
        </p:spPr>
        <p:txBody>
          <a:bodyPr wrap="square" lIns="0" tIns="0" rIns="0" bIns="0" rtlCol="0" anchor="ctr"/>
          <a:lstStyle/>
          <a:p>
            <a:pPr marL="0" indent="0">
              <a:buNone/>
            </a:pPr>
            <a:r>
              <a:rPr lang="en-US" sz="1500" b="1" dirty="0">
                <a:solidFill>
                  <a:srgbClr val="1E1B3A"/>
                </a:solidFill>
                <a:latin typeface="Cambria" pitchFamily="34" charset="0"/>
                <a:ea typeface="Cambria" pitchFamily="34" charset="-122"/>
                <a:cs typeface="Cambria" pitchFamily="34" charset="-120"/>
              </a:rPr>
              <a:t>In this project</a:t>
            </a:r>
            <a:endParaRPr lang="en-US" sz="1500" dirty="0"/>
          </a:p>
        </p:txBody>
      </p:sp>
      <p:sp>
        <p:nvSpPr>
          <p:cNvPr id="23" name="Text 20"/>
          <p:cNvSpPr txBox="1"/>
          <p:nvPr/>
        </p:nvSpPr>
        <p:spPr>
          <a:xfrm>
            <a:off x="5897880" y="2011680"/>
            <a:ext cx="2651760" cy="2331720"/>
          </a:xfrm>
          <a:prstGeom prst="rect">
            <a:avLst/>
          </a:prstGeom>
          <a:noFill/>
          <a:ln/>
        </p:spPr>
        <p:txBody>
          <a:bodyPr wrap="square" lIns="0" tIns="0" rIns="0" bIns="0" rtlCol="0" anchor="t"/>
          <a:lstStyle/>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Library: </a:t>
            </a:r>
            <a:r>
              <a:rPr lang="en-US" sz="1300" dirty="0">
                <a:solidFill>
                  <a:srgbClr val="5B5877"/>
                </a:solidFill>
                <a:latin typeface="Calibri" pitchFamily="34" charset="0"/>
                <a:ea typeface="Calibri" pitchFamily="34" charset="-122"/>
                <a:cs typeface="Calibri" pitchFamily="34" charset="-120"/>
              </a:rPr>
              <a:t>igraph community_multilevel.</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Settings: </a:t>
            </a:r>
            <a:r>
              <a:rPr lang="en-US" sz="1300" dirty="0">
                <a:solidFill>
                  <a:srgbClr val="5B5877"/>
                </a:solidFill>
                <a:latin typeface="Calibri" pitchFamily="34" charset="0"/>
                <a:ea typeface="Calibri" pitchFamily="34" charset="-122"/>
                <a:cs typeface="Calibri" pitchFamily="34" charset="-120"/>
              </a:rPr>
              <a:t>resolution 1, seed 42.</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Count: </a:t>
            </a:r>
            <a:r>
              <a:rPr lang="en-US" sz="1300" dirty="0">
                <a:solidFill>
                  <a:srgbClr val="5B5877"/>
                </a:solidFill>
                <a:latin typeface="Calibri" pitchFamily="34" charset="0"/>
                <a:ea typeface="Calibri" pitchFamily="34" charset="-122"/>
                <a:cs typeface="Calibri" pitchFamily="34" charset="-120"/>
              </a:rPr>
              <a:t>found automatically.</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Optimises: </a:t>
            </a:r>
            <a:r>
              <a:rPr lang="en-US" sz="1300" dirty="0">
                <a:solidFill>
                  <a:srgbClr val="5B5877"/>
                </a:solidFill>
                <a:latin typeface="Calibri" pitchFamily="34" charset="0"/>
                <a:ea typeface="Calibri" pitchFamily="34" charset="-122"/>
                <a:cs typeface="Calibri" pitchFamily="34" charset="-120"/>
              </a:rPr>
              <a:t>modularity.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Fast Greedy: </a:t>
            </a:r>
            <a:r>
              <a:rPr lang="en-US" dirty="0"/>
              <a:t>broadly hierarchical clustering</a:t>
            </a:r>
            <a:endParaRPr lang="en-US" sz="2800" dirty="0"/>
          </a:p>
        </p:txBody>
      </p:sp>
      <p:sp>
        <p:nvSpPr>
          <p:cNvPr id="4" name="Fast_Greedy chip"/>
          <p:cNvSpPr/>
          <p:nvPr/>
        </p:nvSpPr>
        <p:spPr>
          <a:xfrm>
            <a:off x="457200" y="1143000"/>
            <a:ext cx="1371600" cy="292608"/>
          </a:xfrm>
          <a:prstGeom prst="roundRect">
            <a:avLst>
              <a:gd name="adj" fmla="val 50000"/>
            </a:avLst>
          </a:prstGeom>
          <a:solidFill>
            <a:srgbClr val="D9730D"/>
          </a:solidFill>
          <a:ln w="12700">
            <a:solidFill>
              <a:srgbClr val="D9730D"/>
            </a:solidFill>
            <a:prstDash val="solid"/>
          </a:ln>
        </p:spPr>
      </p:sp>
      <p:sp>
        <p:nvSpPr>
          <p:cNvPr id="5" name="Text 2"/>
          <p:cNvSpPr txBox="1"/>
          <p:nvPr/>
        </p:nvSpPr>
        <p:spPr>
          <a:xfrm>
            <a:off x="457200" y="1143000"/>
            <a:ext cx="13716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Fast Greedy</a:t>
            </a:r>
            <a:endParaRPr lang="en-US" sz="1200" dirty="0"/>
          </a:p>
        </p:txBody>
      </p:sp>
      <p:sp>
        <p:nvSpPr>
          <p:cNvPr id="6" name="Fast_Greedy step card 1"/>
          <p:cNvSpPr/>
          <p:nvPr/>
        </p:nvSpPr>
        <p:spPr>
          <a:xfrm>
            <a:off x="457200" y="1554480"/>
            <a:ext cx="5029200" cy="835152"/>
          </a:xfrm>
          <a:prstGeom prst="roundRect">
            <a:avLst>
              <a:gd name="adj" fmla="val 8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7" name="Fast_Greedy step number 1"/>
          <p:cNvSpPr/>
          <p:nvPr/>
        </p:nvSpPr>
        <p:spPr>
          <a:xfrm>
            <a:off x="594360" y="1766316"/>
            <a:ext cx="411480" cy="411480"/>
          </a:xfrm>
          <a:prstGeom prst="ellipse">
            <a:avLst/>
          </a:prstGeom>
          <a:solidFill>
            <a:srgbClr val="D9730D"/>
          </a:solidFill>
          <a:ln w="12700">
            <a:solidFill>
              <a:srgbClr val="D9730D"/>
            </a:solidFill>
            <a:prstDash val="solid"/>
          </a:ln>
        </p:spPr>
      </p:sp>
      <p:sp>
        <p:nvSpPr>
          <p:cNvPr id="8" name="Text 5"/>
          <p:cNvSpPr txBox="1"/>
          <p:nvPr/>
        </p:nvSpPr>
        <p:spPr>
          <a:xfrm>
            <a:off x="594360" y="176631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0934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Start alone</a:t>
            </a:r>
            <a:endParaRPr lang="en-US" sz="1400" dirty="0"/>
          </a:p>
        </p:txBody>
      </p:sp>
      <p:sp>
        <p:nvSpPr>
          <p:cNvPr id="10" name="Text 7"/>
          <p:cNvSpPr txBox="1"/>
          <p:nvPr/>
        </p:nvSpPr>
        <p:spPr>
          <a:xfrm>
            <a:off x="1188720" y="1883664"/>
            <a:ext cx="4160520" cy="46939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Every user begins as its own community.</a:t>
            </a:r>
            <a:endParaRPr lang="en-US" sz="1200" dirty="0"/>
          </a:p>
        </p:txBody>
      </p:sp>
      <p:sp>
        <p:nvSpPr>
          <p:cNvPr id="11" name="Fast_Greedy step card 2"/>
          <p:cNvSpPr/>
          <p:nvPr/>
        </p:nvSpPr>
        <p:spPr>
          <a:xfrm>
            <a:off x="457200" y="2499360"/>
            <a:ext cx="5029200" cy="835152"/>
          </a:xfrm>
          <a:prstGeom prst="roundRect">
            <a:avLst>
              <a:gd name="adj" fmla="val 8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2" name="Fast_Greedy step number 2"/>
          <p:cNvSpPr/>
          <p:nvPr/>
        </p:nvSpPr>
        <p:spPr>
          <a:xfrm>
            <a:off x="594360" y="2711196"/>
            <a:ext cx="411480" cy="411480"/>
          </a:xfrm>
          <a:prstGeom prst="ellipse">
            <a:avLst/>
          </a:prstGeom>
          <a:solidFill>
            <a:srgbClr val="D9730D"/>
          </a:solidFill>
          <a:ln w="12700">
            <a:solidFill>
              <a:srgbClr val="D9730D"/>
            </a:solidFill>
            <a:prstDash val="solid"/>
          </a:ln>
        </p:spPr>
      </p:sp>
      <p:sp>
        <p:nvSpPr>
          <p:cNvPr id="13" name="Text 10"/>
          <p:cNvSpPr txBox="1"/>
          <p:nvPr/>
        </p:nvSpPr>
        <p:spPr>
          <a:xfrm>
            <a:off x="594360" y="271119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188720" y="255422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Merge greedily</a:t>
            </a:r>
            <a:endParaRPr lang="en-US" sz="1400" dirty="0"/>
          </a:p>
        </p:txBody>
      </p:sp>
      <p:sp>
        <p:nvSpPr>
          <p:cNvPr id="15" name="Text 12"/>
          <p:cNvSpPr txBox="1"/>
          <p:nvPr/>
        </p:nvSpPr>
        <p:spPr>
          <a:xfrm>
            <a:off x="1188720" y="2828544"/>
            <a:ext cx="4160520" cy="46939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Repeatedly merge the pair of communities with the largest modularity gain, building a dendrogram.</a:t>
            </a:r>
            <a:endParaRPr lang="en-US" sz="1200" dirty="0"/>
          </a:p>
        </p:txBody>
      </p:sp>
      <p:sp>
        <p:nvSpPr>
          <p:cNvPr id="16" name="Fast_Greedy step card 3"/>
          <p:cNvSpPr/>
          <p:nvPr/>
        </p:nvSpPr>
        <p:spPr>
          <a:xfrm>
            <a:off x="457200" y="3444240"/>
            <a:ext cx="5029200" cy="835152"/>
          </a:xfrm>
          <a:prstGeom prst="roundRect">
            <a:avLst>
              <a:gd name="adj" fmla="val 8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Fast_Greedy step number 3"/>
          <p:cNvSpPr/>
          <p:nvPr/>
        </p:nvSpPr>
        <p:spPr>
          <a:xfrm>
            <a:off x="594360" y="3656076"/>
            <a:ext cx="411480" cy="411480"/>
          </a:xfrm>
          <a:prstGeom prst="ellipse">
            <a:avLst/>
          </a:prstGeom>
          <a:solidFill>
            <a:srgbClr val="D9730D"/>
          </a:solidFill>
          <a:ln w="12700">
            <a:solidFill>
              <a:srgbClr val="D9730D"/>
            </a:solidFill>
            <a:prstDash val="solid"/>
          </a:ln>
        </p:spPr>
      </p:sp>
      <p:sp>
        <p:nvSpPr>
          <p:cNvPr id="18" name="Text 15"/>
          <p:cNvSpPr txBox="1"/>
          <p:nvPr/>
        </p:nvSpPr>
        <p:spPr>
          <a:xfrm>
            <a:off x="594360" y="365607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188720" y="349910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Cut the tree</a:t>
            </a:r>
            <a:endParaRPr lang="en-US" sz="1400" dirty="0"/>
          </a:p>
        </p:txBody>
      </p:sp>
      <p:sp>
        <p:nvSpPr>
          <p:cNvPr id="20" name="Text 17"/>
          <p:cNvSpPr txBox="1"/>
          <p:nvPr/>
        </p:nvSpPr>
        <p:spPr>
          <a:xfrm>
            <a:off x="1188720" y="3773424"/>
            <a:ext cx="4160520" cy="46939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Choose the level with maximum modularity; the count is not forced to match Louvain.</a:t>
            </a:r>
            <a:endParaRPr lang="en-US" sz="1200" dirty="0"/>
          </a:p>
        </p:txBody>
      </p:sp>
      <p:sp>
        <p:nvSpPr>
          <p:cNvPr id="21" name="Fast_Greedy facts card"/>
          <p:cNvSpPr/>
          <p:nvPr/>
        </p:nvSpPr>
        <p:spPr>
          <a:xfrm>
            <a:off x="5715000" y="1554480"/>
            <a:ext cx="2971800" cy="2834640"/>
          </a:xfrm>
          <a:prstGeom prst="roundRect">
            <a:avLst>
              <a:gd name="adj" fmla="val 258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2" name="Text 19"/>
          <p:cNvSpPr txBox="1"/>
          <p:nvPr/>
        </p:nvSpPr>
        <p:spPr>
          <a:xfrm>
            <a:off x="5897880" y="1664208"/>
            <a:ext cx="2651760" cy="274320"/>
          </a:xfrm>
          <a:prstGeom prst="rect">
            <a:avLst/>
          </a:prstGeom>
          <a:noFill/>
          <a:ln/>
        </p:spPr>
        <p:txBody>
          <a:bodyPr wrap="square" lIns="0" tIns="0" rIns="0" bIns="0" rtlCol="0" anchor="ctr"/>
          <a:lstStyle/>
          <a:p>
            <a:pPr marL="0" indent="0">
              <a:buNone/>
            </a:pPr>
            <a:r>
              <a:rPr lang="en-US" sz="1500" b="1" dirty="0">
                <a:solidFill>
                  <a:srgbClr val="1E1B3A"/>
                </a:solidFill>
                <a:latin typeface="Cambria" pitchFamily="34" charset="0"/>
                <a:ea typeface="Cambria" pitchFamily="34" charset="-122"/>
                <a:cs typeface="Cambria" pitchFamily="34" charset="-120"/>
              </a:rPr>
              <a:t>In this project</a:t>
            </a:r>
            <a:endParaRPr lang="en-US" sz="1500" dirty="0"/>
          </a:p>
        </p:txBody>
      </p:sp>
      <p:sp>
        <p:nvSpPr>
          <p:cNvPr id="23" name="Text 20"/>
          <p:cNvSpPr txBox="1"/>
          <p:nvPr/>
        </p:nvSpPr>
        <p:spPr>
          <a:xfrm>
            <a:off x="5897880" y="2011680"/>
            <a:ext cx="2651760" cy="2331720"/>
          </a:xfrm>
          <a:prstGeom prst="rect">
            <a:avLst/>
          </a:prstGeom>
          <a:noFill/>
          <a:ln/>
        </p:spPr>
        <p:txBody>
          <a:bodyPr wrap="square" lIns="0" tIns="0" rIns="0" bIns="0" rtlCol="0" anchor="t"/>
          <a:lstStyle/>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Library: </a:t>
            </a:r>
            <a:r>
              <a:rPr lang="en-US" sz="1300" dirty="0">
                <a:solidFill>
                  <a:srgbClr val="5B5877"/>
                </a:solidFill>
                <a:latin typeface="Calibri" pitchFamily="34" charset="0"/>
                <a:ea typeface="Calibri" pitchFamily="34" charset="-122"/>
                <a:cs typeface="Calibri" pitchFamily="34" charset="-120"/>
              </a:rPr>
              <a:t>igraph community_fastgreedy.</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Selection: </a:t>
            </a:r>
            <a:r>
              <a:rPr lang="en-US" sz="1300" dirty="0">
                <a:solidFill>
                  <a:srgbClr val="5B5877"/>
                </a:solidFill>
                <a:latin typeface="Calibri" pitchFamily="34" charset="0"/>
                <a:ea typeface="Calibri" pitchFamily="34" charset="-122"/>
                <a:cs typeface="Calibri" pitchFamily="34" charset="-120"/>
              </a:rPr>
              <a:t>maximum-modularity dendrogram cut.</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Randomness: </a:t>
            </a:r>
            <a:r>
              <a:rPr lang="en-US" sz="1300" dirty="0">
                <a:solidFill>
                  <a:srgbClr val="5B5877"/>
                </a:solidFill>
                <a:latin typeface="Calibri" pitchFamily="34" charset="0"/>
                <a:ea typeface="Calibri" pitchFamily="34" charset="-122"/>
                <a:cs typeface="Calibri" pitchFamily="34" charset="-120"/>
              </a:rPr>
              <a:t>none, deterministic.</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Optimises: </a:t>
            </a:r>
            <a:r>
              <a:rPr lang="en-US" sz="1300" dirty="0">
                <a:solidFill>
                  <a:srgbClr val="5B5877"/>
                </a:solidFill>
                <a:latin typeface="Calibri" pitchFamily="34" charset="0"/>
                <a:ea typeface="Calibri" pitchFamily="34" charset="-122"/>
                <a:cs typeface="Calibri" pitchFamily="34" charset="-120"/>
              </a:rPr>
              <a:t>modularity.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BLDLP: label propagation with link density</a:t>
            </a:r>
            <a:endParaRPr lang="en-US" sz="2800" dirty="0"/>
          </a:p>
        </p:txBody>
      </p:sp>
      <p:sp>
        <p:nvSpPr>
          <p:cNvPr id="4" name="BLDLP chip"/>
          <p:cNvSpPr/>
          <p:nvPr/>
        </p:nvSpPr>
        <p:spPr>
          <a:xfrm>
            <a:off x="457200" y="1143000"/>
            <a:ext cx="1371600" cy="292608"/>
          </a:xfrm>
          <a:prstGeom prst="roundRect">
            <a:avLst>
              <a:gd name="adj" fmla="val 50000"/>
            </a:avLst>
          </a:prstGeom>
          <a:solidFill>
            <a:srgbClr val="3E8E41"/>
          </a:solidFill>
          <a:ln w="12700">
            <a:solidFill>
              <a:srgbClr val="3E8E41"/>
            </a:solidFill>
            <a:prstDash val="solid"/>
          </a:ln>
        </p:spPr>
      </p:sp>
      <p:sp>
        <p:nvSpPr>
          <p:cNvPr id="5" name="Text 2"/>
          <p:cNvSpPr txBox="1"/>
          <p:nvPr/>
        </p:nvSpPr>
        <p:spPr>
          <a:xfrm>
            <a:off x="457200" y="1143000"/>
            <a:ext cx="1371600" cy="29260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BLDLP</a:t>
            </a:r>
            <a:endParaRPr lang="en-US" sz="1200" dirty="0"/>
          </a:p>
        </p:txBody>
      </p:sp>
      <p:sp>
        <p:nvSpPr>
          <p:cNvPr id="6" name="BLDLP step card 1"/>
          <p:cNvSpPr/>
          <p:nvPr/>
        </p:nvSpPr>
        <p:spPr>
          <a:xfrm>
            <a:off x="457200" y="1554480"/>
            <a:ext cx="5029200" cy="598932"/>
          </a:xfrm>
          <a:prstGeom prst="roundRect">
            <a:avLst>
              <a:gd name="adj" fmla="val 1221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7" name="BLDLP step number 1"/>
          <p:cNvSpPr/>
          <p:nvPr/>
        </p:nvSpPr>
        <p:spPr>
          <a:xfrm>
            <a:off x="594360" y="1648206"/>
            <a:ext cx="411480" cy="411480"/>
          </a:xfrm>
          <a:prstGeom prst="ellipse">
            <a:avLst/>
          </a:prstGeom>
          <a:solidFill>
            <a:srgbClr val="3E8E41"/>
          </a:solidFill>
          <a:ln w="12700">
            <a:solidFill>
              <a:srgbClr val="3E8E41"/>
            </a:solidFill>
            <a:prstDash val="solid"/>
          </a:ln>
        </p:spPr>
      </p:sp>
      <p:sp>
        <p:nvSpPr>
          <p:cNvPr id="8" name="Text 5"/>
          <p:cNvSpPr txBox="1"/>
          <p:nvPr/>
        </p:nvSpPr>
        <p:spPr>
          <a:xfrm>
            <a:off x="594360" y="164820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9" name="Text 6"/>
          <p:cNvSpPr txBox="1"/>
          <p:nvPr/>
        </p:nvSpPr>
        <p:spPr>
          <a:xfrm>
            <a:off x="1188720" y="160934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Unique labels</a:t>
            </a:r>
            <a:endParaRPr lang="en-US" sz="1400" dirty="0"/>
          </a:p>
        </p:txBody>
      </p:sp>
      <p:sp>
        <p:nvSpPr>
          <p:cNvPr id="10" name="Text 7"/>
          <p:cNvSpPr txBox="1"/>
          <p:nvPr/>
        </p:nvSpPr>
        <p:spPr>
          <a:xfrm>
            <a:off x="1188720" y="1883664"/>
            <a:ext cx="4160520" cy="23317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Each node starts with its own label.</a:t>
            </a:r>
            <a:endParaRPr lang="en-US" sz="1200" dirty="0"/>
          </a:p>
        </p:txBody>
      </p:sp>
      <p:sp>
        <p:nvSpPr>
          <p:cNvPr id="11" name="BLDLP step card 2"/>
          <p:cNvSpPr/>
          <p:nvPr/>
        </p:nvSpPr>
        <p:spPr>
          <a:xfrm>
            <a:off x="457200" y="2263140"/>
            <a:ext cx="5029200" cy="598932"/>
          </a:xfrm>
          <a:prstGeom prst="roundRect">
            <a:avLst>
              <a:gd name="adj" fmla="val 1221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2" name="BLDLP step number 2"/>
          <p:cNvSpPr/>
          <p:nvPr/>
        </p:nvSpPr>
        <p:spPr>
          <a:xfrm>
            <a:off x="594360" y="2356866"/>
            <a:ext cx="411480" cy="411480"/>
          </a:xfrm>
          <a:prstGeom prst="ellipse">
            <a:avLst/>
          </a:prstGeom>
          <a:solidFill>
            <a:srgbClr val="3E8E41"/>
          </a:solidFill>
          <a:ln w="12700">
            <a:solidFill>
              <a:srgbClr val="3E8E41"/>
            </a:solidFill>
            <a:prstDash val="solid"/>
          </a:ln>
        </p:spPr>
      </p:sp>
      <p:sp>
        <p:nvSpPr>
          <p:cNvPr id="13" name="Text 10"/>
          <p:cNvSpPr txBox="1"/>
          <p:nvPr/>
        </p:nvSpPr>
        <p:spPr>
          <a:xfrm>
            <a:off x="594360" y="235686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188720" y="231800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Majority vote</a:t>
            </a:r>
            <a:endParaRPr lang="en-US" sz="1400" dirty="0"/>
          </a:p>
        </p:txBody>
      </p:sp>
      <p:sp>
        <p:nvSpPr>
          <p:cNvPr id="15" name="Text 12"/>
          <p:cNvSpPr txBox="1"/>
          <p:nvPr/>
        </p:nvSpPr>
        <p:spPr>
          <a:xfrm>
            <a:off x="1188720" y="2592324"/>
            <a:ext cx="4160520" cy="23317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In random order, each node adopts the most common label among its neighbours.</a:t>
            </a:r>
            <a:endParaRPr lang="en-US" sz="1200" dirty="0"/>
          </a:p>
        </p:txBody>
      </p:sp>
      <p:sp>
        <p:nvSpPr>
          <p:cNvPr id="16" name="BLDLP step card 3"/>
          <p:cNvSpPr/>
          <p:nvPr/>
        </p:nvSpPr>
        <p:spPr>
          <a:xfrm>
            <a:off x="457200" y="2971800"/>
            <a:ext cx="5029200" cy="598932"/>
          </a:xfrm>
          <a:prstGeom prst="roundRect">
            <a:avLst>
              <a:gd name="adj" fmla="val 1221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7" name="BLDLP step number 3"/>
          <p:cNvSpPr/>
          <p:nvPr/>
        </p:nvSpPr>
        <p:spPr>
          <a:xfrm>
            <a:off x="594360" y="3065526"/>
            <a:ext cx="411480" cy="411480"/>
          </a:xfrm>
          <a:prstGeom prst="ellipse">
            <a:avLst/>
          </a:prstGeom>
          <a:solidFill>
            <a:srgbClr val="3E8E41"/>
          </a:solidFill>
          <a:ln w="12700">
            <a:solidFill>
              <a:srgbClr val="3E8E41"/>
            </a:solidFill>
            <a:prstDash val="solid"/>
          </a:ln>
        </p:spPr>
      </p:sp>
      <p:sp>
        <p:nvSpPr>
          <p:cNvPr id="18" name="Text 15"/>
          <p:cNvSpPr txBox="1"/>
          <p:nvPr/>
        </p:nvSpPr>
        <p:spPr>
          <a:xfrm>
            <a:off x="594360" y="306552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6"/>
          <p:cNvSpPr txBox="1"/>
          <p:nvPr/>
        </p:nvSpPr>
        <p:spPr>
          <a:xfrm>
            <a:off x="1188720" y="302666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Link-density tie-break</a:t>
            </a:r>
            <a:endParaRPr lang="en-US" sz="1400" dirty="0"/>
          </a:p>
        </p:txBody>
      </p:sp>
      <p:sp>
        <p:nvSpPr>
          <p:cNvPr id="20" name="Text 17"/>
          <p:cNvSpPr txBox="1"/>
          <p:nvPr/>
        </p:nvSpPr>
        <p:spPr>
          <a:xfrm>
            <a:off x="1188720" y="3300984"/>
            <a:ext cx="4160520" cy="23317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Ties use summed edge weights w = floor(15 / (|E| + 1)); still tied: pick randomly.</a:t>
            </a:r>
            <a:endParaRPr lang="en-US" sz="1200" dirty="0"/>
          </a:p>
        </p:txBody>
      </p:sp>
      <p:sp>
        <p:nvSpPr>
          <p:cNvPr id="21" name="BLDLP step card 4"/>
          <p:cNvSpPr/>
          <p:nvPr/>
        </p:nvSpPr>
        <p:spPr>
          <a:xfrm>
            <a:off x="457200" y="3680460"/>
            <a:ext cx="5029200" cy="598932"/>
          </a:xfrm>
          <a:prstGeom prst="roundRect">
            <a:avLst>
              <a:gd name="adj" fmla="val 1221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2" name="BLDLP step number 4"/>
          <p:cNvSpPr/>
          <p:nvPr/>
        </p:nvSpPr>
        <p:spPr>
          <a:xfrm>
            <a:off x="594360" y="3774186"/>
            <a:ext cx="411480" cy="411480"/>
          </a:xfrm>
          <a:prstGeom prst="ellipse">
            <a:avLst/>
          </a:prstGeom>
          <a:solidFill>
            <a:srgbClr val="3E8E41"/>
          </a:solidFill>
          <a:ln w="12700">
            <a:solidFill>
              <a:srgbClr val="3E8E41"/>
            </a:solidFill>
            <a:prstDash val="solid"/>
          </a:ln>
        </p:spPr>
      </p:sp>
      <p:sp>
        <p:nvSpPr>
          <p:cNvPr id="23" name="Text 20"/>
          <p:cNvSpPr txBox="1"/>
          <p:nvPr/>
        </p:nvSpPr>
        <p:spPr>
          <a:xfrm>
            <a:off x="594360" y="3774186"/>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4" name="Text 21"/>
          <p:cNvSpPr txBox="1"/>
          <p:nvPr/>
        </p:nvSpPr>
        <p:spPr>
          <a:xfrm>
            <a:off x="1188720" y="3735324"/>
            <a:ext cx="4160520" cy="274320"/>
          </a:xfrm>
          <a:prstGeom prst="rect">
            <a:avLst/>
          </a:prstGeom>
          <a:noFill/>
          <a:ln/>
        </p:spPr>
        <p:txBody>
          <a:bodyPr wrap="square" lIns="0" tIns="0" rIns="0" bIns="0" rtlCol="0" anchor="ctr"/>
          <a:lstStyle/>
          <a:p>
            <a:pPr marL="0" indent="0">
              <a:buNone/>
            </a:pPr>
            <a:r>
              <a:rPr lang="en-US" sz="1400" b="1" dirty="0">
                <a:solidFill>
                  <a:srgbClr val="1E1B3A"/>
                </a:solidFill>
                <a:latin typeface="Calibri" pitchFamily="34" charset="0"/>
                <a:ea typeface="Calibri" pitchFamily="34" charset="-122"/>
                <a:cs typeface="Calibri" pitchFamily="34" charset="-120"/>
              </a:rPr>
              <a:t>Stop</a:t>
            </a:r>
            <a:endParaRPr lang="en-US" sz="1400" dirty="0"/>
          </a:p>
        </p:txBody>
      </p:sp>
      <p:sp>
        <p:nvSpPr>
          <p:cNvPr id="25" name="Text 22"/>
          <p:cNvSpPr txBox="1"/>
          <p:nvPr/>
        </p:nvSpPr>
        <p:spPr>
          <a:xfrm>
            <a:off x="1188720" y="4009644"/>
            <a:ext cx="4160520" cy="233172"/>
          </a:xfrm>
          <a:prstGeom prst="rect">
            <a:avLst/>
          </a:prstGeom>
          <a:noFill/>
          <a:ln/>
        </p:spPr>
        <p:txBody>
          <a:bodyPr wrap="square" lIns="0" tIns="0" rIns="0" bIns="0" rtlCol="0" anchor="t"/>
          <a:lstStyle/>
          <a:p>
            <a:pPr marL="0" indent="0">
              <a:buNone/>
            </a:pPr>
            <a:r>
              <a:rPr lang="en-US" sz="1200" dirty="0">
                <a:solidFill>
                  <a:srgbClr val="5B5877"/>
                </a:solidFill>
                <a:latin typeface="Calibri" pitchFamily="34" charset="0"/>
                <a:ea typeface="Calibri" pitchFamily="34" charset="-122"/>
                <a:cs typeface="Calibri" pitchFamily="34" charset="-120"/>
              </a:rPr>
              <a:t>When no ties remain, or after 10,000 iterations.</a:t>
            </a:r>
            <a:endParaRPr lang="en-US" sz="1200" dirty="0"/>
          </a:p>
        </p:txBody>
      </p:sp>
      <p:sp>
        <p:nvSpPr>
          <p:cNvPr id="26" name="BLDLP facts card"/>
          <p:cNvSpPr/>
          <p:nvPr/>
        </p:nvSpPr>
        <p:spPr>
          <a:xfrm>
            <a:off x="5715000" y="1554480"/>
            <a:ext cx="2971800" cy="2834640"/>
          </a:xfrm>
          <a:prstGeom prst="roundRect">
            <a:avLst>
              <a:gd name="adj" fmla="val 258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7" name="Text 24"/>
          <p:cNvSpPr txBox="1"/>
          <p:nvPr/>
        </p:nvSpPr>
        <p:spPr>
          <a:xfrm>
            <a:off x="5897880" y="1664208"/>
            <a:ext cx="2651760" cy="274320"/>
          </a:xfrm>
          <a:prstGeom prst="rect">
            <a:avLst/>
          </a:prstGeom>
          <a:noFill/>
          <a:ln/>
        </p:spPr>
        <p:txBody>
          <a:bodyPr wrap="square" lIns="0" tIns="0" rIns="0" bIns="0" rtlCol="0" anchor="ctr"/>
          <a:lstStyle/>
          <a:p>
            <a:pPr marL="0" indent="0">
              <a:buNone/>
            </a:pPr>
            <a:r>
              <a:rPr lang="en-US" sz="1500" b="1" dirty="0">
                <a:solidFill>
                  <a:srgbClr val="1E1B3A"/>
                </a:solidFill>
                <a:latin typeface="Cambria" pitchFamily="34" charset="0"/>
                <a:ea typeface="Cambria" pitchFamily="34" charset="-122"/>
                <a:cs typeface="Cambria" pitchFamily="34" charset="-120"/>
              </a:rPr>
              <a:t>In this project</a:t>
            </a:r>
            <a:endParaRPr lang="en-US" sz="1500" dirty="0"/>
          </a:p>
        </p:txBody>
      </p:sp>
      <p:sp>
        <p:nvSpPr>
          <p:cNvPr id="28" name="Text 25"/>
          <p:cNvSpPr txBox="1"/>
          <p:nvPr/>
        </p:nvSpPr>
        <p:spPr>
          <a:xfrm>
            <a:off x="5897880" y="2011680"/>
            <a:ext cx="2651760" cy="2331720"/>
          </a:xfrm>
          <a:prstGeom prst="rect">
            <a:avLst/>
          </a:prstGeom>
          <a:noFill/>
          <a:ln/>
        </p:spPr>
        <p:txBody>
          <a:bodyPr wrap="square" lIns="0" tIns="0" rIns="0" bIns="0" rtlCol="0" anchor="t"/>
          <a:lstStyle/>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Source: </a:t>
            </a:r>
            <a:r>
              <a:rPr lang="en-US" sz="1300" dirty="0">
                <a:solidFill>
                  <a:srgbClr val="5B5877"/>
                </a:solidFill>
                <a:latin typeface="Calibri" pitchFamily="34" charset="0"/>
                <a:ea typeface="Calibri" pitchFamily="34" charset="-122"/>
                <a:cs typeface="Calibri" pitchFamily="34" charset="-120"/>
              </a:rPr>
              <a:t>notebook sna_partb.ipynb, section 2.3 (SophiaVei repo). It cites no paper.</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Settings: </a:t>
            </a:r>
            <a:r>
              <a:rPr lang="en-US" sz="1300" dirty="0">
                <a:solidFill>
                  <a:srgbClr val="5B5877"/>
                </a:solidFill>
                <a:latin typeface="Calibri" pitchFamily="34" charset="0"/>
                <a:ea typeface="Calibri" pitchFamily="34" charset="-122"/>
                <a:cs typeface="Calibri" pitchFamily="34" charset="-120"/>
              </a:rPr>
              <a:t>alpha 15, seed 42.</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Result: </a:t>
            </a:r>
            <a:r>
              <a:rPr lang="en-US" sz="1300" dirty="0">
                <a:solidFill>
                  <a:srgbClr val="5B5877"/>
                </a:solidFill>
                <a:latin typeface="Calibri" pitchFamily="34" charset="0"/>
                <a:ea typeface="Calibri" pitchFamily="34" charset="-122"/>
                <a:cs typeface="Calibri" pitchFamily="34" charset="-120"/>
              </a:rPr>
              <a:t>did not converge in 10,000 iterations.</a:t>
            </a:r>
            <a:endParaRPr lang="en-US" sz="1300" dirty="0"/>
          </a:p>
          <a:p>
            <a:pPr marL="0" indent="0">
              <a:spcAft>
                <a:spcPts val="600"/>
              </a:spcAft>
              <a:buNone/>
            </a:pPr>
            <a:r>
              <a:rPr lang="en-US" sz="1300" b="1" dirty="0">
                <a:solidFill>
                  <a:srgbClr val="1E1B3A"/>
                </a:solidFill>
                <a:latin typeface="Calibri" pitchFamily="34" charset="0"/>
                <a:ea typeface="Calibri" pitchFamily="34" charset="-122"/>
                <a:cs typeface="Calibri" pitchFamily="34" charset="-120"/>
              </a:rPr>
              <a:t>Optimises: </a:t>
            </a:r>
            <a:r>
              <a:rPr lang="en-US" sz="1300" dirty="0">
                <a:solidFill>
                  <a:srgbClr val="5B5877"/>
                </a:solidFill>
                <a:latin typeface="Calibri" pitchFamily="34" charset="0"/>
                <a:ea typeface="Calibri" pitchFamily="34" charset="-122"/>
                <a:cs typeface="Calibri" pitchFamily="34" charset="-120"/>
              </a:rPr>
              <a:t>not modularity.</a:t>
            </a:r>
            <a:endParaRPr lang="en-US" sz="1300" dirty="0"/>
          </a:p>
        </p:txBody>
      </p:sp>
      <p:sp>
        <p:nvSpPr>
          <p:cNvPr id="3"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How the comparison is made fair</a:t>
            </a:r>
            <a:endParaRPr lang="en-US" sz="2800" dirty="0"/>
          </a:p>
        </p:txBody>
      </p:sp>
      <p:sp>
        <p:nvSpPr>
          <p:cNvPr id="4" name="Setup card 1"/>
          <p:cNvSpPr/>
          <p:nvPr/>
        </p:nvSpPr>
        <p:spPr>
          <a:xfrm>
            <a:off x="457200" y="132588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5" name="Setup number 1"/>
          <p:cNvSpPr/>
          <p:nvPr/>
        </p:nvSpPr>
        <p:spPr>
          <a:xfrm>
            <a:off x="640080" y="1508760"/>
            <a:ext cx="411480" cy="411480"/>
          </a:xfrm>
          <a:prstGeom prst="ellipse">
            <a:avLst/>
          </a:prstGeom>
          <a:solidFill>
            <a:srgbClr val="7C5CFF"/>
          </a:solidFill>
          <a:ln w="12700">
            <a:solidFill>
              <a:srgbClr val="7C5CFF"/>
            </a:solidFill>
            <a:prstDash val="solid"/>
          </a:ln>
        </p:spPr>
      </p:sp>
      <p:sp>
        <p:nvSpPr>
          <p:cNvPr id="6" name="Text 3"/>
          <p:cNvSpPr txBox="1"/>
          <p:nvPr/>
        </p:nvSpPr>
        <p:spPr>
          <a:xfrm>
            <a:off x="640080" y="1508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4"/>
          <p:cNvSpPr txBox="1"/>
          <p:nvPr/>
        </p:nvSpPr>
        <p:spPr>
          <a:xfrm>
            <a:off x="1234440" y="1527048"/>
            <a:ext cx="3108960" cy="365760"/>
          </a:xfrm>
          <a:prstGeom prst="rect">
            <a:avLst/>
          </a:prstGeom>
          <a:noFill/>
          <a:ln/>
        </p:spPr>
        <p:txBody>
          <a:bodyPr wrap="square" lIns="0" tIns="0" rIns="0" bIns="0" rtlCol="0" anchor="ctr"/>
          <a:lstStyle/>
          <a:p>
            <a:pPr marL="0" indent="0">
              <a:buNone/>
            </a:pPr>
            <a:r>
              <a:rPr lang="en-US" sz="1700" b="1" dirty="0">
                <a:solidFill>
                  <a:srgbClr val="1E1B3A"/>
                </a:solidFill>
                <a:latin typeface="Cambria" pitchFamily="34" charset="0"/>
                <a:ea typeface="Cambria" pitchFamily="34" charset="-122"/>
                <a:cs typeface="Cambria" pitchFamily="34" charset="-120"/>
              </a:rPr>
              <a:t>One graph</a:t>
            </a:r>
            <a:endParaRPr lang="en-US" sz="1700" dirty="0"/>
          </a:p>
        </p:txBody>
      </p:sp>
      <p:sp>
        <p:nvSpPr>
          <p:cNvPr id="8" name="Text 5"/>
          <p:cNvSpPr txBox="1"/>
          <p:nvPr/>
        </p:nvSpPr>
        <p:spPr>
          <a:xfrm>
            <a:off x="685800" y="2057400"/>
            <a:ext cx="3566160" cy="594360"/>
          </a:xfrm>
          <a:prstGeom prst="rect">
            <a:avLst/>
          </a:prstGeom>
          <a:noFill/>
          <a:ln/>
        </p:spPr>
        <p:txBody>
          <a:bodyPr wrap="square" lIns="0" tIns="0" rIns="0" bIns="0" rtlCol="0" anchor="t"/>
          <a:lstStyle/>
          <a:p>
            <a:pPr marL="0" indent="0">
              <a:buNone/>
            </a:pPr>
            <a:r>
              <a:rPr lang="en-US" sz="1300" dirty="0">
                <a:solidFill>
                  <a:srgbClr val="5B5877"/>
                </a:solidFill>
                <a:latin typeface="Calibri" pitchFamily="34" charset="0"/>
                <a:ea typeface="Calibri" pitchFamily="34" charset="-122"/>
                <a:cs typeface="Calibri" pitchFamily="34" charset="-120"/>
              </a:rPr>
              <a:t>Loaded and validated once; undirected, simple, no nodes removed.</a:t>
            </a:r>
            <a:endParaRPr lang="en-US" sz="1300" dirty="0"/>
          </a:p>
        </p:txBody>
      </p:sp>
      <p:sp>
        <p:nvSpPr>
          <p:cNvPr id="9" name="Setup card 2"/>
          <p:cNvSpPr/>
          <p:nvPr/>
        </p:nvSpPr>
        <p:spPr>
          <a:xfrm>
            <a:off x="4663440" y="132588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0" name="Setup number 2"/>
          <p:cNvSpPr/>
          <p:nvPr/>
        </p:nvSpPr>
        <p:spPr>
          <a:xfrm>
            <a:off x="4846320" y="1508760"/>
            <a:ext cx="411480" cy="411480"/>
          </a:xfrm>
          <a:prstGeom prst="ellipse">
            <a:avLst/>
          </a:prstGeom>
          <a:solidFill>
            <a:srgbClr val="7C5CFF"/>
          </a:solidFill>
          <a:ln w="12700">
            <a:solidFill>
              <a:srgbClr val="7C5CFF"/>
            </a:solidFill>
            <a:prstDash val="solid"/>
          </a:ln>
        </p:spPr>
      </p:sp>
      <p:sp>
        <p:nvSpPr>
          <p:cNvPr id="11" name="Text 8"/>
          <p:cNvSpPr txBox="1"/>
          <p:nvPr/>
        </p:nvSpPr>
        <p:spPr>
          <a:xfrm>
            <a:off x="4846320" y="15087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9"/>
          <p:cNvSpPr txBox="1"/>
          <p:nvPr/>
        </p:nvSpPr>
        <p:spPr>
          <a:xfrm>
            <a:off x="5440680" y="1527048"/>
            <a:ext cx="3108960" cy="365760"/>
          </a:xfrm>
          <a:prstGeom prst="rect">
            <a:avLst/>
          </a:prstGeom>
          <a:noFill/>
          <a:ln/>
        </p:spPr>
        <p:txBody>
          <a:bodyPr wrap="square" lIns="0" tIns="0" rIns="0" bIns="0" rtlCol="0" anchor="ctr"/>
          <a:lstStyle/>
          <a:p>
            <a:pPr marL="0" indent="0">
              <a:buNone/>
            </a:pPr>
            <a:r>
              <a:rPr lang="en-US" sz="1700" b="1" dirty="0">
                <a:solidFill>
                  <a:srgbClr val="1E1B3A"/>
                </a:solidFill>
                <a:latin typeface="Cambria" pitchFamily="34" charset="0"/>
                <a:ea typeface="Cambria" pitchFamily="34" charset="-122"/>
                <a:cs typeface="Cambria" pitchFamily="34" charset="-120"/>
              </a:rPr>
              <a:t>One modularity</a:t>
            </a:r>
            <a:endParaRPr lang="en-US" sz="1700" dirty="0"/>
          </a:p>
        </p:txBody>
      </p:sp>
      <p:sp>
        <p:nvSpPr>
          <p:cNvPr id="13" name="Text 10"/>
          <p:cNvSpPr txBox="1"/>
          <p:nvPr/>
        </p:nvSpPr>
        <p:spPr>
          <a:xfrm>
            <a:off x="4892040" y="2057400"/>
            <a:ext cx="3566160" cy="594360"/>
          </a:xfrm>
          <a:prstGeom prst="rect">
            <a:avLst/>
          </a:prstGeom>
          <a:noFill/>
          <a:ln/>
        </p:spPr>
        <p:txBody>
          <a:bodyPr wrap="square" lIns="0" tIns="0" rIns="0" bIns="0" rtlCol="0" anchor="t"/>
          <a:lstStyle/>
          <a:p>
            <a:pPr marL="0" indent="0">
              <a:buNone/>
            </a:pPr>
            <a:r>
              <a:rPr lang="en-US" sz="1300" dirty="0">
                <a:solidFill>
                  <a:srgbClr val="5B5877"/>
                </a:solidFill>
                <a:latin typeface="Calibri" pitchFamily="34" charset="0"/>
                <a:ea typeface="Calibri" pitchFamily="34" charset="-122"/>
                <a:cs typeface="Calibri" pitchFamily="34" charset="-120"/>
              </a:rPr>
              <a:t>igraph unweighted undirected modularity, resolution 1, same graph for all.</a:t>
            </a:r>
            <a:endParaRPr lang="en-US" sz="1300" dirty="0"/>
          </a:p>
        </p:txBody>
      </p:sp>
      <p:sp>
        <p:nvSpPr>
          <p:cNvPr id="14" name="Setup card 3"/>
          <p:cNvSpPr/>
          <p:nvPr/>
        </p:nvSpPr>
        <p:spPr>
          <a:xfrm>
            <a:off x="457200" y="292608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5" name="Setup number 3"/>
          <p:cNvSpPr/>
          <p:nvPr/>
        </p:nvSpPr>
        <p:spPr>
          <a:xfrm>
            <a:off x="640080" y="3108960"/>
            <a:ext cx="411480" cy="411480"/>
          </a:xfrm>
          <a:prstGeom prst="ellipse">
            <a:avLst/>
          </a:prstGeom>
          <a:solidFill>
            <a:srgbClr val="7C5CFF"/>
          </a:solidFill>
          <a:ln w="12700">
            <a:solidFill>
              <a:srgbClr val="7C5CFF"/>
            </a:solidFill>
            <a:prstDash val="solid"/>
          </a:ln>
        </p:spPr>
      </p:sp>
      <p:sp>
        <p:nvSpPr>
          <p:cNvPr id="16" name="Text 13"/>
          <p:cNvSpPr txBox="1"/>
          <p:nvPr/>
        </p:nvSpPr>
        <p:spPr>
          <a:xfrm>
            <a:off x="640080" y="3108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4"/>
          <p:cNvSpPr txBox="1"/>
          <p:nvPr/>
        </p:nvSpPr>
        <p:spPr>
          <a:xfrm>
            <a:off x="1234440" y="3127248"/>
            <a:ext cx="3108960" cy="365760"/>
          </a:xfrm>
          <a:prstGeom prst="rect">
            <a:avLst/>
          </a:prstGeom>
          <a:noFill/>
          <a:ln/>
        </p:spPr>
        <p:txBody>
          <a:bodyPr wrap="square" lIns="0" tIns="0" rIns="0" bIns="0" rtlCol="0" anchor="ctr"/>
          <a:lstStyle/>
          <a:p>
            <a:pPr marL="0" indent="0">
              <a:buNone/>
            </a:pPr>
            <a:r>
              <a:rPr lang="en-US" sz="1700" b="1" dirty="0">
                <a:solidFill>
                  <a:srgbClr val="1E1B3A"/>
                </a:solidFill>
                <a:latin typeface="Cambria" pitchFamily="34" charset="0"/>
                <a:ea typeface="Cambria" pitchFamily="34" charset="-122"/>
                <a:cs typeface="Cambria" pitchFamily="34" charset="-120"/>
              </a:rPr>
              <a:t>Recorded runs</a:t>
            </a:r>
            <a:endParaRPr lang="en-US" sz="1700" dirty="0"/>
          </a:p>
        </p:txBody>
      </p:sp>
      <p:sp>
        <p:nvSpPr>
          <p:cNvPr id="18" name="Text 15"/>
          <p:cNvSpPr txBox="1"/>
          <p:nvPr/>
        </p:nvSpPr>
        <p:spPr>
          <a:xfrm>
            <a:off x="685800" y="3657600"/>
            <a:ext cx="3566160" cy="594360"/>
          </a:xfrm>
          <a:prstGeom prst="rect">
            <a:avLst/>
          </a:prstGeom>
          <a:noFill/>
          <a:ln/>
        </p:spPr>
        <p:txBody>
          <a:bodyPr wrap="square" lIns="0" tIns="0" rIns="0" bIns="0" rtlCol="0" anchor="t"/>
          <a:lstStyle/>
          <a:p>
            <a:pPr marL="0" indent="0">
              <a:buNone/>
            </a:pPr>
            <a:r>
              <a:rPr lang="en-US" sz="1300" dirty="0">
                <a:solidFill>
                  <a:srgbClr val="5B5877"/>
                </a:solidFill>
                <a:latin typeface="Calibri" pitchFamily="34" charset="0"/>
                <a:ea typeface="Calibri" pitchFamily="34" charset="-122"/>
                <a:cs typeface="Calibri" pitchFamily="34" charset="-120"/>
              </a:rPr>
              <a:t>Seed 42 for the randomised methods; one run each.</a:t>
            </a:r>
            <a:endParaRPr lang="en-US" sz="1300" dirty="0"/>
          </a:p>
        </p:txBody>
      </p:sp>
      <p:sp>
        <p:nvSpPr>
          <p:cNvPr id="19" name="Setup card 4"/>
          <p:cNvSpPr/>
          <p:nvPr/>
        </p:nvSpPr>
        <p:spPr>
          <a:xfrm>
            <a:off x="4663440" y="2926080"/>
            <a:ext cx="4023360" cy="1417320"/>
          </a:xfrm>
          <a:prstGeom prst="roundRect">
            <a:avLst>
              <a:gd name="adj" fmla="val 516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0" name="Setup number 4"/>
          <p:cNvSpPr/>
          <p:nvPr/>
        </p:nvSpPr>
        <p:spPr>
          <a:xfrm>
            <a:off x="4846320" y="3108960"/>
            <a:ext cx="411480" cy="411480"/>
          </a:xfrm>
          <a:prstGeom prst="ellipse">
            <a:avLst/>
          </a:prstGeom>
          <a:solidFill>
            <a:srgbClr val="7C5CFF"/>
          </a:solidFill>
          <a:ln w="12700">
            <a:solidFill>
              <a:srgbClr val="7C5CFF"/>
            </a:solidFill>
            <a:prstDash val="solid"/>
          </a:ln>
        </p:spPr>
      </p:sp>
      <p:sp>
        <p:nvSpPr>
          <p:cNvPr id="21" name="Text 18"/>
          <p:cNvSpPr txBox="1"/>
          <p:nvPr/>
        </p:nvSpPr>
        <p:spPr>
          <a:xfrm>
            <a:off x="4846320" y="3108960"/>
            <a:ext cx="41148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19"/>
          <p:cNvSpPr txBox="1"/>
          <p:nvPr/>
        </p:nvSpPr>
        <p:spPr>
          <a:xfrm>
            <a:off x="5440680" y="3127248"/>
            <a:ext cx="3108960" cy="365760"/>
          </a:xfrm>
          <a:prstGeom prst="rect">
            <a:avLst/>
          </a:prstGeom>
          <a:noFill/>
          <a:ln/>
        </p:spPr>
        <p:txBody>
          <a:bodyPr wrap="square" lIns="0" tIns="0" rIns="0" bIns="0" rtlCol="0" anchor="ctr"/>
          <a:lstStyle/>
          <a:p>
            <a:pPr marL="0" indent="0">
              <a:buNone/>
            </a:pPr>
            <a:r>
              <a:rPr lang="en-US" sz="1700" b="1" dirty="0">
                <a:solidFill>
                  <a:srgbClr val="1E1B3A"/>
                </a:solidFill>
                <a:latin typeface="Cambria" pitchFamily="34" charset="0"/>
                <a:ea typeface="Cambria" pitchFamily="34" charset="-122"/>
                <a:cs typeface="Cambria" pitchFamily="34" charset="-120"/>
              </a:rPr>
              <a:t>Timing</a:t>
            </a:r>
            <a:endParaRPr lang="en-US" sz="1700" dirty="0"/>
          </a:p>
        </p:txBody>
      </p:sp>
      <p:sp>
        <p:nvSpPr>
          <p:cNvPr id="23" name="Text 20"/>
          <p:cNvSpPr txBox="1"/>
          <p:nvPr/>
        </p:nvSpPr>
        <p:spPr>
          <a:xfrm>
            <a:off x="4892040" y="3657600"/>
            <a:ext cx="3566160" cy="594360"/>
          </a:xfrm>
          <a:prstGeom prst="rect">
            <a:avLst/>
          </a:prstGeom>
          <a:noFill/>
          <a:ln/>
        </p:spPr>
        <p:txBody>
          <a:bodyPr wrap="square" lIns="0" tIns="0" rIns="0" bIns="0" rtlCol="0" anchor="t"/>
          <a:lstStyle/>
          <a:p>
            <a:pPr marL="0" indent="0">
              <a:buNone/>
            </a:pPr>
            <a:r>
              <a:rPr lang="en-US" sz="1300" dirty="0">
                <a:solidFill>
                  <a:srgbClr val="5B5877"/>
                </a:solidFill>
                <a:latin typeface="Calibri" pitchFamily="34" charset="0"/>
                <a:ea typeface="Calibri" pitchFamily="34" charset="-122"/>
                <a:cs typeface="Calibri" pitchFamily="34" charset="-120"/>
              </a:rPr>
              <a:t>Algorithm core only; excludes loading and plotting.</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Louvain scores highest; BLDLP splits finest</a:t>
            </a:r>
            <a:endParaRPr lang="en-US" sz="2800" dirty="0"/>
          </a:p>
        </p:txBody>
      </p:sp>
      <p:graphicFrame>
        <p:nvGraphicFramePr>
          <p:cNvPr id="4" name="Chart 0"/>
          <p:cNvGraphicFramePr/>
          <p:nvPr/>
        </p:nvGraphicFramePr>
        <p:xfrm>
          <a:off x="365760" y="1234440"/>
          <a:ext cx="2743200" cy="30175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nvGraphicFramePr>
        <p:xfrm>
          <a:off x="3200400" y="1234440"/>
          <a:ext cx="2743200" cy="30175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nvGraphicFramePr>
        <p:xfrm>
          <a:off x="6035040" y="1234440"/>
          <a:ext cx="2743200" cy="3017520"/>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 1"/>
          <p:cNvSpPr txBox="1"/>
          <p:nvPr/>
        </p:nvSpPr>
        <p:spPr>
          <a:xfrm>
            <a:off x="457200" y="4389120"/>
            <a:ext cx="7955280" cy="365760"/>
          </a:xfrm>
          <a:prstGeom prst="rect">
            <a:avLst/>
          </a:prstGeom>
          <a:noFill/>
          <a:ln/>
        </p:spPr>
        <p:txBody>
          <a:bodyPr wrap="square" lIns="0" tIns="0" rIns="0" bIns="0" rtlCol="0" anchor="ctr"/>
          <a:lstStyle/>
          <a:p>
            <a:pPr marL="0" indent="0">
              <a:buNone/>
            </a:pPr>
            <a:r>
              <a:rPr lang="en-US" sz="1300" i="1" dirty="0">
                <a:solidFill>
                  <a:srgbClr val="5B5877"/>
                </a:solidFill>
                <a:latin typeface="Calibri" pitchFamily="34" charset="0"/>
                <a:ea typeface="Calibri" pitchFamily="34" charset="-122"/>
                <a:cs typeface="Calibri" pitchFamily="34" charset="-120"/>
              </a:rPr>
              <a:t>Modularity 0.8159 vs 0.7966 vs 0.7627: different objectives, so this is not a ranking of overall quality.</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Communities:</a:t>
            </a:r>
            <a:endParaRPr lang="en-US" sz="2800" dirty="0"/>
          </a:p>
        </p:txBody>
      </p:sp>
      <p:sp>
        <p:nvSpPr>
          <p:cNvPr id="4" name="Louvain picture card"/>
          <p:cNvSpPr/>
          <p:nvPr/>
        </p:nvSpPr>
        <p:spPr>
          <a:xfrm>
            <a:off x="411480" y="1188720"/>
            <a:ext cx="2651760" cy="3063240"/>
          </a:xfrm>
          <a:prstGeom prst="roundRect">
            <a:avLst>
              <a:gd name="adj" fmla="val 2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pic>
        <p:nvPicPr>
          <p:cNvPr id="5" name="Image 0" descr="Louvain communities drawn on the LastFM network"/>
          <p:cNvPicPr>
            <a:picLocks noChangeAspect="1"/>
          </p:cNvPicPr>
          <p:nvPr/>
        </p:nvPicPr>
        <p:blipFill>
          <a:blip r:embed="rId3"/>
          <a:stretch>
            <a:fillRect/>
          </a:stretch>
        </p:blipFill>
        <p:spPr>
          <a:xfrm>
            <a:off x="457200" y="1234440"/>
            <a:ext cx="2560320" cy="2560320"/>
          </a:xfrm>
          <a:prstGeom prst="rect">
            <a:avLst/>
          </a:prstGeom>
        </p:spPr>
      </p:pic>
      <p:sp>
        <p:nvSpPr>
          <p:cNvPr id="6" name="Text 2"/>
          <p:cNvSpPr txBox="1"/>
          <p:nvPr/>
        </p:nvSpPr>
        <p:spPr>
          <a:xfrm>
            <a:off x="457200" y="3840480"/>
            <a:ext cx="2560320" cy="320040"/>
          </a:xfrm>
          <a:prstGeom prst="rect">
            <a:avLst/>
          </a:prstGeom>
          <a:noFill/>
          <a:ln/>
        </p:spPr>
        <p:txBody>
          <a:bodyPr wrap="square" lIns="0" tIns="0" rIns="0" bIns="0" rtlCol="0" anchor="ctr"/>
          <a:lstStyle/>
          <a:p>
            <a:pPr marL="0" indent="0" algn="ctr">
              <a:buNone/>
            </a:pPr>
            <a:r>
              <a:rPr lang="en-US" sz="1300" b="1" dirty="0">
                <a:solidFill>
                  <a:srgbClr val="3F6FA0"/>
                </a:solidFill>
                <a:latin typeface="Calibri" pitchFamily="34" charset="0"/>
                <a:ea typeface="Calibri" pitchFamily="34" charset="-122"/>
                <a:cs typeface="Calibri" pitchFamily="34" charset="-120"/>
              </a:rPr>
              <a:t>Louvain: 24 communities</a:t>
            </a:r>
            <a:endParaRPr lang="en-US" sz="1300" dirty="0"/>
          </a:p>
        </p:txBody>
      </p:sp>
      <p:sp>
        <p:nvSpPr>
          <p:cNvPr id="7" name="Fast_Greedy picture card"/>
          <p:cNvSpPr/>
          <p:nvPr/>
        </p:nvSpPr>
        <p:spPr>
          <a:xfrm>
            <a:off x="3246120" y="1188720"/>
            <a:ext cx="2651760" cy="3063240"/>
          </a:xfrm>
          <a:prstGeom prst="roundRect">
            <a:avLst>
              <a:gd name="adj" fmla="val 2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pic>
        <p:nvPicPr>
          <p:cNvPr id="8" name="Image 1" descr="Fast Greedy communities drawn on the LastFM network"/>
          <p:cNvPicPr>
            <a:picLocks noChangeAspect="1"/>
          </p:cNvPicPr>
          <p:nvPr/>
        </p:nvPicPr>
        <p:blipFill>
          <a:blip r:embed="rId4"/>
          <a:stretch>
            <a:fillRect/>
          </a:stretch>
        </p:blipFill>
        <p:spPr>
          <a:xfrm>
            <a:off x="3291840" y="1234440"/>
            <a:ext cx="2560320" cy="2560320"/>
          </a:xfrm>
          <a:prstGeom prst="rect">
            <a:avLst/>
          </a:prstGeom>
        </p:spPr>
      </p:pic>
      <p:sp>
        <p:nvSpPr>
          <p:cNvPr id="9" name="Text 4"/>
          <p:cNvSpPr txBox="1"/>
          <p:nvPr/>
        </p:nvSpPr>
        <p:spPr>
          <a:xfrm>
            <a:off x="3291840" y="3840480"/>
            <a:ext cx="2560320" cy="320040"/>
          </a:xfrm>
          <a:prstGeom prst="rect">
            <a:avLst/>
          </a:prstGeom>
          <a:noFill/>
          <a:ln/>
        </p:spPr>
        <p:txBody>
          <a:bodyPr wrap="square" lIns="0" tIns="0" rIns="0" bIns="0" rtlCol="0" anchor="ctr"/>
          <a:lstStyle/>
          <a:p>
            <a:pPr marL="0" indent="0" algn="ctr">
              <a:buNone/>
            </a:pPr>
            <a:r>
              <a:rPr lang="en-US" sz="1300" b="1" dirty="0">
                <a:solidFill>
                  <a:srgbClr val="D9730D"/>
                </a:solidFill>
                <a:latin typeface="Calibri" pitchFamily="34" charset="0"/>
                <a:ea typeface="Calibri" pitchFamily="34" charset="-122"/>
                <a:cs typeface="Calibri" pitchFamily="34" charset="-120"/>
              </a:rPr>
              <a:t>Fast Greedy: 44 communities</a:t>
            </a:r>
            <a:endParaRPr lang="en-US" sz="1300" dirty="0"/>
          </a:p>
        </p:txBody>
      </p:sp>
      <p:sp>
        <p:nvSpPr>
          <p:cNvPr id="10" name="BLDLP picture card"/>
          <p:cNvSpPr/>
          <p:nvPr/>
        </p:nvSpPr>
        <p:spPr>
          <a:xfrm>
            <a:off x="6080760" y="1188720"/>
            <a:ext cx="2651760" cy="3063240"/>
          </a:xfrm>
          <a:prstGeom prst="roundRect">
            <a:avLst>
              <a:gd name="adj" fmla="val 275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pic>
        <p:nvPicPr>
          <p:cNvPr id="11" name="Image 2" descr="BLDLP communities drawn on the LastFM network"/>
          <p:cNvPicPr>
            <a:picLocks noChangeAspect="1"/>
          </p:cNvPicPr>
          <p:nvPr/>
        </p:nvPicPr>
        <p:blipFill>
          <a:blip r:embed="rId5"/>
          <a:stretch>
            <a:fillRect/>
          </a:stretch>
        </p:blipFill>
        <p:spPr>
          <a:xfrm>
            <a:off x="6126480" y="1234440"/>
            <a:ext cx="2560320" cy="2560320"/>
          </a:xfrm>
          <a:prstGeom prst="rect">
            <a:avLst/>
          </a:prstGeom>
        </p:spPr>
      </p:pic>
      <p:sp>
        <p:nvSpPr>
          <p:cNvPr id="12" name="Text 6"/>
          <p:cNvSpPr txBox="1"/>
          <p:nvPr/>
        </p:nvSpPr>
        <p:spPr>
          <a:xfrm>
            <a:off x="6126480" y="3840480"/>
            <a:ext cx="2560320" cy="320040"/>
          </a:xfrm>
          <a:prstGeom prst="rect">
            <a:avLst/>
          </a:prstGeom>
          <a:noFill/>
          <a:ln/>
        </p:spPr>
        <p:txBody>
          <a:bodyPr wrap="square" lIns="0" tIns="0" rIns="0" bIns="0" rtlCol="0" anchor="ctr"/>
          <a:lstStyle/>
          <a:p>
            <a:pPr marL="0" indent="0" algn="ctr">
              <a:buNone/>
            </a:pPr>
            <a:r>
              <a:rPr lang="en-US" sz="1300" b="1" dirty="0">
                <a:solidFill>
                  <a:srgbClr val="3E8E41"/>
                </a:solidFill>
                <a:latin typeface="Calibri" pitchFamily="34" charset="0"/>
                <a:ea typeface="Calibri" pitchFamily="34" charset="-122"/>
                <a:cs typeface="Calibri" pitchFamily="34" charset="-120"/>
              </a:rPr>
              <a:t>BLDLP: 376 communities</a:t>
            </a:r>
            <a:endParaRPr lang="en-US" sz="1300" dirty="0"/>
          </a:p>
        </p:txBody>
      </p:sp>
      <p:sp>
        <p:nvSpPr>
          <p:cNvPr id="13" name="Text 7"/>
          <p:cNvSpPr txBox="1"/>
          <p:nvPr/>
        </p:nvSpPr>
        <p:spPr>
          <a:xfrm>
            <a:off x="457200" y="4526280"/>
            <a:ext cx="8229600" cy="274320"/>
          </a:xfrm>
          <a:prstGeom prst="rect">
            <a:avLst/>
          </a:prstGeom>
          <a:noFill/>
          <a:ln/>
        </p:spPr>
        <p:txBody>
          <a:bodyPr wrap="square" lIns="0" tIns="0" rIns="0" bIns="0" rtlCol="0" anchor="ctr"/>
          <a:lstStyle/>
          <a:p>
            <a:pPr marL="0" indent="0">
              <a:buNone/>
            </a:pPr>
            <a:r>
              <a:rPr lang="en-US" sz="1200" i="1" dirty="0">
                <a:solidFill>
                  <a:srgbClr val="5B5877"/>
                </a:solidFill>
                <a:latin typeface="Calibri" pitchFamily="34" charset="0"/>
                <a:ea typeface="Calibri" pitchFamily="34" charset="-122"/>
                <a:cs typeface="Calibri" pitchFamily="34" charset="-120"/>
              </a:rPr>
              <a:t>Colour = community (12 largest coloured, rest grey). Node positions are identical in all three panels.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BLDLP adds a long tail of tiny communities</a:t>
            </a:r>
            <a:endParaRPr lang="en-US" sz="2800" dirty="0"/>
          </a:p>
        </p:txBody>
      </p:sp>
      <p:sp>
        <p:nvSpPr>
          <p:cNvPr id="4" name="Size distribution card"/>
          <p:cNvSpPr/>
          <p:nvPr/>
        </p:nvSpPr>
        <p:spPr>
          <a:xfrm>
            <a:off x="457200" y="1188720"/>
            <a:ext cx="5394960" cy="3246120"/>
          </a:xfrm>
          <a:prstGeom prst="roundRect">
            <a:avLst>
              <a:gd name="adj" fmla="val 225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pic>
        <p:nvPicPr>
          <p:cNvPr id="5" name="Image 0" descr="Rank-size curves and size distributions of the three algorithms"/>
          <p:cNvPicPr>
            <a:picLocks noChangeAspect="1"/>
          </p:cNvPicPr>
          <p:nvPr/>
        </p:nvPicPr>
        <p:blipFill>
          <a:blip r:embed="rId3"/>
          <a:stretch>
            <a:fillRect/>
          </a:stretch>
        </p:blipFill>
        <p:spPr>
          <a:xfrm>
            <a:off x="548640" y="1417320"/>
            <a:ext cx="5212080" cy="1954530"/>
          </a:xfrm>
          <a:prstGeom prst="rect">
            <a:avLst/>
          </a:prstGeom>
        </p:spPr>
      </p:pic>
      <p:sp>
        <p:nvSpPr>
          <p:cNvPr id="6" name="Text 2"/>
          <p:cNvSpPr txBox="1"/>
          <p:nvPr/>
        </p:nvSpPr>
        <p:spPr>
          <a:xfrm>
            <a:off x="640080" y="3520440"/>
            <a:ext cx="5029200" cy="274320"/>
          </a:xfrm>
          <a:prstGeom prst="rect">
            <a:avLst/>
          </a:prstGeom>
          <a:noFill/>
          <a:ln/>
        </p:spPr>
        <p:txBody>
          <a:bodyPr wrap="square" lIns="0" tIns="0" rIns="0" bIns="0" rtlCol="0" anchor="ctr"/>
          <a:lstStyle/>
          <a:p>
            <a:pPr marL="0" indent="0">
              <a:buNone/>
            </a:pPr>
            <a:r>
              <a:rPr lang="en-US" sz="1200" i="1" dirty="0">
                <a:solidFill>
                  <a:srgbClr val="5B5877"/>
                </a:solidFill>
                <a:latin typeface="Calibri" pitchFamily="34" charset="0"/>
                <a:ea typeface="Calibri" pitchFamily="34" charset="-122"/>
                <a:cs typeface="Calibri" pitchFamily="34" charset="-120"/>
              </a:rPr>
              <a:t>Log scales on both axes of the rank-size curves.</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035040" y="1188720"/>
          <a:ext cx="2651760" cy="3017520"/>
        </p:xfrm>
        <a:graphic>
          <a:graphicData uri="http://schemas.openxmlformats.org/drawingml/2006/table">
            <a:tbl>
              <a:tblPr/>
              <a:tblGrid>
                <a:gridCol w="1005840">
                  <a:extLst>
                    <a:ext uri="{9D8B030D-6E8A-4147-A177-3AD203B41FA5}">
                      <a16:colId xmlns:a16="http://schemas.microsoft.com/office/drawing/2014/main" val="20000"/>
                    </a:ext>
                  </a:extLst>
                </a:gridCol>
                <a:gridCol w="548640">
                  <a:extLst>
                    <a:ext uri="{9D8B030D-6E8A-4147-A177-3AD203B41FA5}">
                      <a16:colId xmlns:a16="http://schemas.microsoft.com/office/drawing/2014/main" val="20001"/>
                    </a:ext>
                  </a:extLst>
                </a:gridCol>
                <a:gridCol w="548640">
                  <a:extLst>
                    <a:ext uri="{9D8B030D-6E8A-4147-A177-3AD203B41FA5}">
                      <a16:colId xmlns:a16="http://schemas.microsoft.com/office/drawing/2014/main" val="20002"/>
                    </a:ext>
                  </a:extLst>
                </a:gridCol>
                <a:gridCol w="548640">
                  <a:extLst>
                    <a:ext uri="{9D8B030D-6E8A-4147-A177-3AD203B41FA5}">
                      <a16:colId xmlns:a16="http://schemas.microsoft.com/office/drawing/2014/main" val="20003"/>
                    </a:ext>
                  </a:extLst>
                </a:gridCol>
              </a:tblGrid>
              <a:tr h="411480">
                <a:tc>
                  <a:txBody>
                    <a:bodyPr/>
                    <a:lstStyle/>
                    <a:p>
                      <a:pPr marL="0" indent="0" algn="l">
                        <a:buNone/>
                      </a:pP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Louvain</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Fast Greedy</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BLDLP</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extLst>
                  <a:ext uri="{0D108BD9-81ED-4DB2-BD59-A6C34878D82A}">
                    <a16:rowId xmlns:a16="http://schemas.microsoft.com/office/drawing/2014/main" val="10000"/>
                  </a:ext>
                </a:extLst>
              </a:tr>
              <a:tr h="548640">
                <a:tc>
                  <a:txBody>
                    <a:bodyPr/>
                    <a:lstStyle/>
                    <a:p>
                      <a:pPr marL="0" indent="0" algn="l">
                        <a:buNone/>
                      </a:pPr>
                      <a:r>
                        <a:rPr lang="en-US" sz="1000" b="1" dirty="0">
                          <a:solidFill>
                            <a:srgbClr val="1E1B3A"/>
                          </a:solidFill>
                          <a:latin typeface="Calibri" pitchFamily="34" charset="0"/>
                          <a:ea typeface="Calibri" pitchFamily="34" charset="-122"/>
                          <a:cs typeface="Calibri" pitchFamily="34" charset="-120"/>
                        </a:rPr>
                        <a:t>Median size</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147.5</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000" b="1" dirty="0">
                          <a:solidFill>
                            <a:srgbClr val="1E1B3A"/>
                          </a:solidFill>
                          <a:latin typeface="Calibri" pitchFamily="34" charset="0"/>
                          <a:ea typeface="Calibri" pitchFamily="34" charset="-122"/>
                          <a:cs typeface="Calibri" pitchFamily="34" charset="-120"/>
                        </a:rPr>
                        <a:t>Communities ≥ 100 nodes</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15</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lgn="l">
                        <a:buNone/>
                      </a:pPr>
                      <a:r>
                        <a:rPr lang="en-US" sz="1000" b="1" dirty="0">
                          <a:solidFill>
                            <a:srgbClr val="1E1B3A"/>
                          </a:solidFill>
                          <a:latin typeface="Calibri" pitchFamily="34" charset="0"/>
                          <a:ea typeface="Calibri" pitchFamily="34" charset="-122"/>
                          <a:cs typeface="Calibri" pitchFamily="34" charset="-120"/>
                        </a:rPr>
                        <a:t>Communities &lt; 10 nodes</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310</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1000" b="1" dirty="0">
                          <a:solidFill>
                            <a:srgbClr val="1E1B3A"/>
                          </a:solidFill>
                          <a:latin typeface="Calibri" pitchFamily="34" charset="0"/>
                          <a:ea typeface="Calibri" pitchFamily="34" charset="-122"/>
                          <a:cs typeface="Calibri" pitchFamily="34" charset="-120"/>
                        </a:rPr>
                        <a:t>Largest / smallest</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1016 / 4</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1512 / 3</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000" dirty="0">
                          <a:solidFill>
                            <a:srgbClr val="1E1B3A"/>
                          </a:solidFill>
                          <a:latin typeface="Calibri" pitchFamily="34" charset="0"/>
                          <a:ea typeface="Calibri" pitchFamily="34" charset="-122"/>
                          <a:cs typeface="Calibri" pitchFamily="34" charset="-120"/>
                        </a:rPr>
                        <a:t>1006 / 2</a:t>
                      </a:r>
                      <a:endParaRPr lang="en-US" sz="1000" dirty="0">
                        <a:latin typeface="Calibri" charset="0"/>
                        <a:ea typeface="Calibri" charset="0"/>
                        <a:cs typeface="Calibri" charset="0"/>
                      </a:endParaRPr>
                    </a:p>
                  </a:txBody>
                  <a:tcPr marL="36576" marR="36576" marT="36576" marB="36576"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Largest communities: sparse yet clustered</a:t>
            </a:r>
            <a:endParaRPr lang="en-US" sz="2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3017520"/>
        </p:xfrm>
        <a:graphic>
          <a:graphicData uri="http://schemas.openxmlformats.org/drawingml/2006/table">
            <a:tbl>
              <a:tblPr/>
              <a:tblGrid>
                <a:gridCol w="128016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18872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gridCol w="822960">
                  <a:extLst>
                    <a:ext uri="{9D8B030D-6E8A-4147-A177-3AD203B41FA5}">
                      <a16:colId xmlns:a16="http://schemas.microsoft.com/office/drawing/2014/main" val="20007"/>
                    </a:ext>
                  </a:extLst>
                </a:gridCol>
              </a:tblGrid>
              <a:tr h="301752">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Algorithm</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Rank</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Nodes</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Internal edges</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Density</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Avg clustering</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Avg path length</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Diameter</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1E1B3A"/>
                    </a:solidFill>
                  </a:tcPr>
                </a:tc>
                <a:extLst>
                  <a:ext uri="{0D108BD9-81ED-4DB2-BD59-A6C34878D82A}">
                    <a16:rowId xmlns:a16="http://schemas.microsoft.com/office/drawing/2014/main" val="10000"/>
                  </a:ext>
                </a:extLst>
              </a:tr>
              <a:tr h="301752">
                <a:tc>
                  <a:txBody>
                    <a:bodyPr/>
                    <a:lstStyle/>
                    <a:p>
                      <a:pPr marL="0" indent="0" algn="l">
                        <a:buNone/>
                      </a:pPr>
                      <a:r>
                        <a:rPr lang="en-US" sz="1200" b="1" dirty="0">
                          <a:solidFill>
                            <a:srgbClr val="3F6FA0"/>
                          </a:solidFill>
                          <a:latin typeface="Calibri" pitchFamily="34" charset="0"/>
                          <a:ea typeface="Calibri" pitchFamily="34" charset="-122"/>
                          <a:cs typeface="Calibri" pitchFamily="34" charset="-120"/>
                        </a:rPr>
                        <a:t>Louvain</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1016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4586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0.0089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0.243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3.52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lgn="l">
                        <a:buNone/>
                      </a:pP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983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3629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0.0075</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0.239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3.77</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lgn="l">
                        <a:buNone/>
                      </a:pP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969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3482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0.0074</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0.227</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3.77</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lgn="l">
                        <a:buNone/>
                      </a:pPr>
                      <a:r>
                        <a:rPr lang="en-US" sz="1200" b="1" dirty="0">
                          <a:solidFill>
                            <a:srgbClr val="D9730D"/>
                          </a:solidFill>
                          <a:latin typeface="Calibri" pitchFamily="34" charset="0"/>
                          <a:ea typeface="Calibri" pitchFamily="34" charset="-122"/>
                          <a:cs typeface="Calibri" pitchFamily="34" charset="-120"/>
                        </a:rPr>
                        <a:t>Fast Greedy</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1512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4804</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0.0042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0.159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3.97</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lgn="l">
                        <a:buNone/>
                      </a:pP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1420</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5874</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0.0058</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0.273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3.91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lgn="l">
                        <a:buNone/>
                      </a:pP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1046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4674</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0.0086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0.252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3.56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lgn="l">
                        <a:buNone/>
                      </a:pPr>
                      <a:r>
                        <a:rPr lang="en-US" sz="1200" b="1" dirty="0">
                          <a:solidFill>
                            <a:srgbClr val="3E8E41"/>
                          </a:solidFill>
                          <a:latin typeface="Calibri" pitchFamily="34" charset="0"/>
                          <a:ea typeface="Calibri" pitchFamily="34" charset="-122"/>
                          <a:cs typeface="Calibri" pitchFamily="34" charset="-120"/>
                        </a:rPr>
                        <a:t>BLDLP</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1006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4549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0.0090</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0.241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3.48</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8</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lgn="l">
                        <a:buNone/>
                      </a:pP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840</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2787</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0.0079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0.211</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3.57</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lgn="l">
                        <a:buNone/>
                      </a:pP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503</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1326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0.0105</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0.142</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4.06</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E1B3A"/>
                          </a:solidFill>
                          <a:latin typeface="Calibri" pitchFamily="34" charset="0"/>
                          <a:ea typeface="Calibri" pitchFamily="34" charset="-122"/>
                          <a:cs typeface="Calibri" pitchFamily="34" charset="-120"/>
                        </a:rPr>
                        <a:t>10</a:t>
                      </a:r>
                      <a:endParaRPr lang="en-US" sz="1200" dirty="0">
                        <a:latin typeface="Calibri" charset="0"/>
                        <a:ea typeface="Calibri" charset="0"/>
                        <a:cs typeface="Calibri" charset="0"/>
                      </a:endParaRPr>
                    </a:p>
                  </a:txBody>
                  <a:tcPr marL="45720" marR="45720" anchor="ctr">
                    <a:lnL w="6350" cap="flat" cmpd="sng" algn="ctr">
                      <a:solidFill>
                        <a:srgbClr val="DDDAEE"/>
                      </a:solidFill>
                      <a:prstDash val="solid"/>
                      <a:round/>
                      <a:headEnd type="none" w="med" len="med"/>
                      <a:tailEnd type="none" w="med" len="med"/>
                    </a:lnL>
                    <a:lnR w="6350" cap="flat" cmpd="sng" algn="ctr">
                      <a:solidFill>
                        <a:srgbClr val="DDDAEE"/>
                      </a:solidFill>
                      <a:prstDash val="solid"/>
                      <a:round/>
                      <a:headEnd type="none" w="med" len="med"/>
                      <a:tailEnd type="none" w="med" len="med"/>
                    </a:lnR>
                    <a:lnT w="6350" cap="flat" cmpd="sng" algn="ctr">
                      <a:solidFill>
                        <a:srgbClr val="DDDAEE"/>
                      </a:solidFill>
                      <a:prstDash val="solid"/>
                      <a:round/>
                      <a:headEnd type="none" w="med" len="med"/>
                      <a:tailEnd type="none" w="med" len="med"/>
                    </a:lnT>
                    <a:lnB w="6350" cap="flat" cmpd="sng" algn="ctr">
                      <a:solidFill>
                        <a:srgbClr val="DDDAE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5" name="Text 1"/>
          <p:cNvSpPr txBox="1"/>
          <p:nvPr/>
        </p:nvSpPr>
        <p:spPr>
          <a:xfrm>
            <a:off x="457200" y="4434840"/>
            <a:ext cx="8229600" cy="457200"/>
          </a:xfrm>
          <a:prstGeom prst="rect">
            <a:avLst/>
          </a:prstGeom>
          <a:noFill/>
          <a:ln/>
        </p:spPr>
        <p:txBody>
          <a:bodyPr wrap="square" lIns="0" tIns="0" rIns="0" bIns="0" rtlCol="0" anchor="t"/>
          <a:lstStyle/>
          <a:p>
            <a:pPr marL="0" indent="0">
              <a:buNone/>
            </a:pPr>
            <a:r>
              <a:rPr lang="en-US" sz="1200" i="1" dirty="0">
                <a:solidFill>
                  <a:srgbClr val="5B5877"/>
                </a:solidFill>
                <a:latin typeface="Calibri" pitchFamily="34" charset="0"/>
                <a:ea typeface="Calibri" pitchFamily="34" charset="-122"/>
                <a:cs typeface="Calibri" pitchFamily="34" charset="-120"/>
              </a:rPr>
              <a:t>Densities are low (under 1.1%) but clustering is 0.14 to 0.27 and typical paths are 3.5 to 4.1 hops. All nine communities are connected. Density falls as community size grows, so compare within similar sizes.</a:t>
            </a:r>
            <a:endParaRPr lang="en-US" sz="12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1E1B3A"/>
                </a:solidFill>
                <a:latin typeface="Cambria" pitchFamily="34" charset="0"/>
                <a:ea typeface="Cambria" pitchFamily="34" charset="-122"/>
                <a:cs typeface="Cambria" pitchFamily="34" charset="-120"/>
              </a:rPr>
              <a:t>Partitions agree on structure, not on detail</a:t>
            </a:r>
            <a:endParaRPr lang="en-US" sz="2800" dirty="0"/>
          </a:p>
        </p:txBody>
      </p:sp>
      <p:graphicFrame>
        <p:nvGraphicFramePr>
          <p:cNvPr id="4" name="Chart 0"/>
          <p:cNvGraphicFramePr/>
          <p:nvPr/>
        </p:nvGraphicFramePr>
        <p:xfrm>
          <a:off x="365760" y="1188720"/>
          <a:ext cx="530352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Similarity explanation card"/>
          <p:cNvSpPr/>
          <p:nvPr/>
        </p:nvSpPr>
        <p:spPr>
          <a:xfrm>
            <a:off x="5852160" y="1188720"/>
            <a:ext cx="2834640" cy="3291840"/>
          </a:xfrm>
          <a:prstGeom prst="roundRect">
            <a:avLst>
              <a:gd name="adj" fmla="val 2581"/>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6" name="Text 2"/>
          <p:cNvSpPr txBox="1"/>
          <p:nvPr/>
        </p:nvSpPr>
        <p:spPr>
          <a:xfrm>
            <a:off x="6035040" y="1298448"/>
            <a:ext cx="2468880" cy="274320"/>
          </a:xfrm>
          <a:prstGeom prst="rect">
            <a:avLst/>
          </a:prstGeom>
          <a:noFill/>
          <a:ln/>
        </p:spPr>
        <p:txBody>
          <a:bodyPr wrap="square" lIns="0" tIns="0" rIns="0" bIns="0" rtlCol="0" anchor="ctr"/>
          <a:lstStyle/>
          <a:p>
            <a:pPr marL="0" indent="0">
              <a:buNone/>
            </a:pPr>
            <a:r>
              <a:rPr lang="en-US" sz="1500" b="1" dirty="0">
                <a:solidFill>
                  <a:srgbClr val="1E1B3A"/>
                </a:solidFill>
                <a:latin typeface="Cambria" pitchFamily="34" charset="0"/>
                <a:ea typeface="Cambria" pitchFamily="34" charset="-122"/>
                <a:cs typeface="Cambria" pitchFamily="34" charset="-120"/>
              </a:rPr>
              <a:t>Reading the scores</a:t>
            </a:r>
            <a:endParaRPr lang="en-US" sz="1500" dirty="0"/>
          </a:p>
        </p:txBody>
      </p:sp>
      <p:sp>
        <p:nvSpPr>
          <p:cNvPr id="7" name="Text 3"/>
          <p:cNvSpPr txBox="1"/>
          <p:nvPr/>
        </p:nvSpPr>
        <p:spPr>
          <a:xfrm>
            <a:off x="6035040" y="1645920"/>
            <a:ext cx="251460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5B5877"/>
                </a:solidFill>
                <a:latin typeface="Calibri" pitchFamily="34" charset="0"/>
                <a:ea typeface="Calibri" pitchFamily="34" charset="-122"/>
                <a:cs typeface="Calibri" pitchFamily="34" charset="-120"/>
              </a:rPr>
              <a:t>ARI: 1 = identical, about 0 = chance.</a:t>
            </a:r>
            <a:endParaRPr lang="en-US" sz="1300" dirty="0"/>
          </a:p>
          <a:p>
            <a:pPr marL="342900" indent="-342900">
              <a:spcAft>
                <a:spcPts val="600"/>
              </a:spcAft>
              <a:buSzPct val="100000"/>
              <a:buChar char="•"/>
            </a:pPr>
            <a:r>
              <a:rPr lang="en-US" sz="1300" dirty="0">
                <a:solidFill>
                  <a:srgbClr val="5B5877"/>
                </a:solidFill>
                <a:latin typeface="Calibri" pitchFamily="34" charset="0"/>
                <a:ea typeface="Calibri" pitchFamily="34" charset="-122"/>
                <a:cs typeface="Calibri" pitchFamily="34" charset="-120"/>
              </a:rPr>
              <a:t>NMI: 0 to 1 shared information.</a:t>
            </a:r>
            <a:endParaRPr lang="en-US" sz="1300" dirty="0"/>
          </a:p>
          <a:p>
            <a:pPr marL="342900" indent="-342900">
              <a:spcAft>
                <a:spcPts val="600"/>
              </a:spcAft>
              <a:buSzPct val="100000"/>
              <a:buChar char="•"/>
            </a:pPr>
            <a:r>
              <a:rPr lang="en-US" sz="1300" dirty="0">
                <a:solidFill>
                  <a:srgbClr val="5B5877"/>
                </a:solidFill>
                <a:latin typeface="Calibri" pitchFamily="34" charset="0"/>
                <a:ea typeface="Calibri" pitchFamily="34" charset="-122"/>
                <a:cs typeface="Calibri" pitchFamily="34" charset="-120"/>
              </a:rPr>
              <a:t>Community IDs are arbitrary, so IDs are never matched across algorithms.</a:t>
            </a:r>
            <a:endParaRPr lang="en-US" sz="13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5877"/>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74320"/>
            <a:ext cx="822960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Key takeaways and limits</a:t>
            </a:r>
            <a:endParaRPr lang="en-US" sz="2800" dirty="0"/>
          </a:p>
        </p:txBody>
      </p:sp>
      <p:sp>
        <p:nvSpPr>
          <p:cNvPr id="4" name="Takeaways card"/>
          <p:cNvSpPr/>
          <p:nvPr/>
        </p:nvSpPr>
        <p:spPr>
          <a:xfrm>
            <a:off x="457200" y="1280160"/>
            <a:ext cx="4023360" cy="3108960"/>
          </a:xfrm>
          <a:prstGeom prst="roundRect">
            <a:avLst>
              <a:gd name="adj" fmla="val 2353"/>
            </a:avLst>
          </a:prstGeom>
          <a:solidFill>
            <a:srgbClr val="2A2650"/>
          </a:solidFill>
          <a:ln w="12700">
            <a:solidFill>
              <a:srgbClr val="2A2650"/>
            </a:solidFill>
            <a:prstDash val="solid"/>
          </a:ln>
        </p:spPr>
      </p:sp>
      <p:sp>
        <p:nvSpPr>
          <p:cNvPr id="5" name="Text 2"/>
          <p:cNvSpPr txBox="1"/>
          <p:nvPr/>
        </p:nvSpPr>
        <p:spPr>
          <a:xfrm>
            <a:off x="685800" y="1417320"/>
            <a:ext cx="3566160" cy="3200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Takeaways</a:t>
            </a:r>
            <a:endParaRPr lang="en-US" sz="1800" dirty="0"/>
          </a:p>
        </p:txBody>
      </p:sp>
      <p:sp>
        <p:nvSpPr>
          <p:cNvPr id="6" name="Text 3"/>
          <p:cNvSpPr txBox="1"/>
          <p:nvPr/>
        </p:nvSpPr>
        <p:spPr>
          <a:xfrm>
            <a:off x="685800" y="182880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Louvain gives the best modularity and the quickest run.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Fast Greedy finds a coarser, deterministic partition.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BLDLP agrees on the big communities but fragments the periphery.</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Partitions overlap substantially but are not identical.</a:t>
            </a:r>
            <a:endParaRPr lang="en-US" sz="1400" dirty="0"/>
          </a:p>
        </p:txBody>
      </p:sp>
      <p:sp>
        <p:nvSpPr>
          <p:cNvPr id="7" name="Limitations card"/>
          <p:cNvSpPr/>
          <p:nvPr/>
        </p:nvSpPr>
        <p:spPr>
          <a:xfrm>
            <a:off x="4663440" y="1280160"/>
            <a:ext cx="4023360" cy="3108960"/>
          </a:xfrm>
          <a:prstGeom prst="roundRect">
            <a:avLst>
              <a:gd name="adj" fmla="val 2353"/>
            </a:avLst>
          </a:prstGeom>
          <a:solidFill>
            <a:srgbClr val="2A2650"/>
          </a:solidFill>
          <a:ln w="12700">
            <a:solidFill>
              <a:srgbClr val="2A2650"/>
            </a:solidFill>
            <a:prstDash val="solid"/>
          </a:ln>
        </p:spPr>
      </p:sp>
      <p:sp>
        <p:nvSpPr>
          <p:cNvPr id="8" name="Text 5"/>
          <p:cNvSpPr txBox="1"/>
          <p:nvPr/>
        </p:nvSpPr>
        <p:spPr>
          <a:xfrm>
            <a:off x="4892040" y="1417320"/>
            <a:ext cx="3566160" cy="3200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Limitations</a:t>
            </a:r>
            <a:endParaRPr lang="en-US" sz="1800" dirty="0"/>
          </a:p>
        </p:txBody>
      </p:sp>
      <p:sp>
        <p:nvSpPr>
          <p:cNvPr id="9" name="Text 6"/>
          <p:cNvSpPr txBox="1"/>
          <p:nvPr/>
        </p:nvSpPr>
        <p:spPr>
          <a:xfrm>
            <a:off x="4892040" y="1828800"/>
            <a:ext cx="3566160"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CFCBF5"/>
                </a:solidFill>
                <a:latin typeface="Calibri" pitchFamily="34" charset="0"/>
                <a:ea typeface="Calibri" pitchFamily="34" charset="-122"/>
                <a:cs typeface="Calibri" pitchFamily="34" charset="-120"/>
              </a:rPr>
              <a:t>One seed per randomised method.</a:t>
            </a:r>
            <a:endParaRPr lang="en-US" sz="1400" dirty="0"/>
          </a:p>
          <a:p>
            <a:pPr marL="342900" indent="-342900">
              <a:spcAft>
                <a:spcPts val="800"/>
              </a:spcAft>
              <a:buSzPct val="100000"/>
              <a:buChar char="•"/>
            </a:pPr>
            <a:r>
              <a:rPr lang="en-US" sz="1400" dirty="0">
                <a:solidFill>
                  <a:srgbClr val="CFCBF5"/>
                </a:solidFill>
                <a:latin typeface="Calibri" pitchFamily="34" charset="0"/>
                <a:ea typeface="Calibri" pitchFamily="34" charset="-122"/>
                <a:cs typeface="Calibri" pitchFamily="34" charset="-120"/>
              </a:rPr>
              <a:t>No ground-truth communities.</a:t>
            </a:r>
            <a:endParaRPr lang="en-US" sz="1400" dirty="0"/>
          </a:p>
          <a:p>
            <a:pPr marL="342900" indent="-342900">
              <a:spcAft>
                <a:spcPts val="800"/>
              </a:spcAft>
              <a:buSzPct val="100000"/>
              <a:buChar char="•"/>
            </a:pPr>
            <a:r>
              <a:rPr lang="en-US" sz="1400" dirty="0">
                <a:solidFill>
                  <a:srgbClr val="CFCBF5"/>
                </a:solidFill>
                <a:latin typeface="Calibri" pitchFamily="34" charset="0"/>
                <a:ea typeface="Calibri" pitchFamily="34" charset="-122"/>
                <a:cs typeface="Calibri" pitchFamily="34" charset="-120"/>
              </a:rPr>
              <a:t>BLDLP follows a notebook; no paper was available.</a:t>
            </a:r>
            <a:endParaRPr lang="en-US" sz="1400" dirty="0"/>
          </a:p>
          <a:p>
            <a:pPr marL="342900" indent="-342900">
              <a:spcAft>
                <a:spcPts val="800"/>
              </a:spcAft>
              <a:buSzPct val="100000"/>
              <a:buChar char="•"/>
            </a:pPr>
            <a:r>
              <a:rPr lang="en-US" sz="1400" dirty="0">
                <a:solidFill>
                  <a:srgbClr val="CFCBF5"/>
                </a:solidFill>
                <a:latin typeface="Calibri" pitchFamily="34" charset="0"/>
                <a:ea typeface="Calibri" pitchFamily="34" charset="-122"/>
                <a:cs typeface="Calibri" pitchFamily="34" charset="-120"/>
              </a:rPr>
              <a:t>BLDLP timing reflects pure Python.</a:t>
            </a:r>
            <a:endParaRPr lang="en-US" sz="14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CFCBF5"/>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theme/theme1.xml><?xml version="1.0" encoding="utf-8"?>
<a:theme xmlns:a="http://schemas.openxmlformats.org/drawingml/2006/main" name="LastFM Community Detection">
  <a:themeElements>
    <a:clrScheme name="LastFM Community Detection">
      <a:dk1>
        <a:srgbClr val="1E1B3A"/>
      </a:dk1>
      <a:lt1>
        <a:srgbClr val="FFFFFF"/>
      </a:lt1>
      <a:dk2>
        <a:srgbClr val="5B5877"/>
      </a:dk2>
      <a:lt2>
        <a:srgbClr val="F4F3FA"/>
      </a:lt2>
      <a:accent1>
        <a:srgbClr val="3F6FA0"/>
      </a:accent1>
      <a:accent2>
        <a:srgbClr val="D9730D"/>
      </a:accent2>
      <a:accent3>
        <a:srgbClr val="3E8E41"/>
      </a:accent3>
      <a:accent4>
        <a:srgbClr val="7C5CFF"/>
      </a:accent4>
      <a:accent5>
        <a:srgbClr val="E0457B"/>
      </a:accent5>
      <a:accent6>
        <a:srgbClr val="2A9D8F"/>
      </a:accent6>
      <a:hlink>
        <a:srgbClr val="3F6FA0"/>
      </a:hlink>
      <a:folHlink>
        <a:srgbClr val="7C5CFF"/>
      </a:folHlink>
    </a:clrScheme>
    <a:fontScheme name="LastFM Community Detec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1449</Words>
  <Application>Microsoft Office PowerPoint</Application>
  <PresentationFormat>On-screen Show (16:9)</PresentationFormat>
  <Paragraphs>264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LastFM Community Detection</vt:lpstr>
      <vt:lpstr>PowerPoint Presentation</vt:lpstr>
      <vt:lpstr>What we did:</vt:lpstr>
      <vt:lpstr>The dataset: LastFM Asia</vt:lpstr>
      <vt:lpstr>What counts as a community here</vt:lpstr>
      <vt:lpstr>Louvain: move nodes, then merge</vt:lpstr>
      <vt:lpstr>Fast Greedy: broadly hierarchical clustering</vt:lpstr>
      <vt:lpstr>BLDLP: label propagation with link density</vt:lpstr>
      <vt:lpstr>How the comparison is made fair</vt:lpstr>
      <vt:lpstr>Louvain scores highest; BLDLP splits finest</vt:lpstr>
      <vt:lpstr>Communities:</vt:lpstr>
      <vt:lpstr>BLDLP adds a long tail of tiny communities</vt:lpstr>
      <vt:lpstr>Largest communities: sparse yet clustered</vt:lpstr>
      <vt:lpstr>Partitions agree on structure, not on detail</vt:lpstr>
      <vt:lpstr>Key takeaways and limits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Community Detection on the LastFM Asia Network</dc:title>
  <dc:subject>PptxGenJS Presentation</dc:subject>
  <dc:creator>Community detection mini-project</dc:creator>
  <cp:lastModifiedBy>_ Soumya _</cp:lastModifiedBy>
  <cp:revision>2</cp:revision>
  <dcterms:created xsi:type="dcterms:W3CDTF">2026-10-20T14:55:29Z</dcterms:created>
  <dcterms:modified xsi:type="dcterms:W3CDTF">2026-10-20T16:06:22Z</dcterms:modified>
</cp:coreProperties>
</file>